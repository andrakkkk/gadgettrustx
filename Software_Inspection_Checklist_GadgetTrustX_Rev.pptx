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5943600" cy="3200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TEST DESIGN SPECIFICATION FROM INSPECTION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Software Inspection Checklist &amp;</a:t>
            </a:r>
            <a:br/>
            <a:r>
              <a:t>Automated Testing Specification</a:t>
            </a:r>
          </a:p>
          <a:p>
            <a:pPr>
              <a:spcBef>
                <a:spcPts val="1000"/>
              </a:spcBef>
              <a:defRPr sz="1500">
                <a:solidFill>
                  <a:srgbClr val="94A3B8"/>
                </a:solidFill>
              </a:defRPr>
            </a:pPr>
            <a:r>
              <a:t>Laporan Pengujian 5 Kategori Coverage Items SUT GadgetTrustX Sesuai Form Spesifikasi Tim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10362895" cy="2468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INFORMASI KELOMPOK 13 &amp; SYSTEM UNDER TEST (SUT):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</a:defRPr>
            </a:pPr>
            <a:r>
              <a:t>• 1. Leandra Chelsea Geovani (NIM: 202310370331421)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</a:defRPr>
            </a:pPr>
            <a:r>
              <a:t>• 2. Muhammad Zaky Praditama (NIM: 202310370311416)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</a:defRPr>
            </a:pPr>
            <a:r>
              <a:t>• 3. Reyvaldi Febryan Widya Utomo (NIM: 202310370311409)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</a:defRPr>
            </a:pPr>
            <a:r>
              <a:t>• 4. Reno Wahyu Sanrama (NIM: 202310370311118)</a:t>
            </a:r>
          </a:p>
          <a:p>
            <a:pPr>
              <a:spcBef>
                <a:spcPts val="800"/>
              </a:spcBef>
              <a:defRPr sz="1000" i="1">
                <a:solidFill>
                  <a:srgbClr val="94A3B8"/>
                </a:solidFill>
              </a:defRPr>
            </a:pPr>
            <a:r>
              <a:t>Mata Kuliah: Penjaminan Mutu &amp; Pengujian Perangkat Lunak (PKPL Kelas B) | SUT: GadgetTrustX (https://gadgetrustx.netlify.app)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4114800" cy="23774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TUJUAN PEMBELAJARAN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Tujuan Pembelajaran &amp; Ruang Lingkup Static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SUT: GadgetTrustX (https://gadgetrustx.netlify.app) | PKPL Kelas B - Kelompok 13 | Test Design Specification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42900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B365D"/>
                </a:solidFill>
              </a:defRPr>
            </a:pPr>
            <a:br/>
            <a:br/>
            <a:br/>
            <a:br/>
            <a:r>
              <a:t>1. Software Testing Life Cycle (STLC)</a:t>
            </a:r>
          </a:p>
          <a:p>
            <a:pPr algn="ctr">
              <a:spcBef>
                <a:spcPts val="400"/>
              </a:spcBef>
              <a:defRPr b="1" sz="950">
                <a:solidFill>
                  <a:srgbClr val="E11D48"/>
                </a:solidFill>
              </a:defRPr>
            </a:pPr>
            <a:r>
              <a:t>MAHASISWA MAMPU MENJELASKAN SOFTWARE TESTING LIFECYCLE</a:t>
            </a:r>
          </a:p>
          <a:p>
            <a:pPr>
              <a:spcBef>
                <a:spcPts val="1200"/>
              </a:spcBef>
              <a:defRPr sz="1000">
                <a:solidFill>
                  <a:srgbClr val="0F172A"/>
                </a:solidFill>
              </a:defRPr>
            </a:pPr>
            <a:r>
              <a:t>Memahami siklus hidup pengujian sistematis dari Requirement Analysis, Test Planning, Test Case Development, Test Execution, hingga Test Closure pada SUT.</a:t>
            </a:r>
          </a:p>
        </p:txBody>
      </p:sp>
      <p:sp>
        <p:nvSpPr>
          <p:cNvPr id="9" name="Oval 8"/>
          <p:cNvSpPr/>
          <p:nvPr/>
        </p:nvSpPr>
        <p:spPr>
          <a:xfrm>
            <a:off x="1920240" y="1737360"/>
            <a:ext cx="1051560" cy="1051560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63040"/>
            <a:ext cx="342900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B365D"/>
                </a:solidFill>
              </a:defRPr>
            </a:pPr>
            <a:br/>
            <a:br/>
            <a:br/>
            <a:br/>
            <a:r>
              <a:t>2. Model dalam Static Testing</a:t>
            </a:r>
          </a:p>
          <a:p>
            <a:pPr algn="ctr">
              <a:spcBef>
                <a:spcPts val="400"/>
              </a:spcBef>
              <a:defRPr b="1" sz="950">
                <a:solidFill>
                  <a:srgbClr val="0284C7"/>
                </a:solidFill>
              </a:defRPr>
            </a:pPr>
            <a:r>
              <a:t>MAHASISWA MAMPU MENJELASKAN MODEL DALAM STATIC TESTING</a:t>
            </a:r>
          </a:p>
          <a:p>
            <a:pPr>
              <a:spcBef>
                <a:spcPts val="1200"/>
              </a:spcBef>
              <a:defRPr sz="1000">
                <a:solidFill>
                  <a:srgbClr val="0F172A"/>
                </a:solidFill>
              </a:defRPr>
            </a:pPr>
            <a:r>
              <a:t>Menguasai teknik Fagan Inspection, Technical Reviews, Walkthrough, dan Desk Checking untuk mendeteksi defect seawal mungkin tanpa mengeksekusi kode.</a:t>
            </a:r>
          </a:p>
        </p:txBody>
      </p:sp>
      <p:sp>
        <p:nvSpPr>
          <p:cNvPr id="11" name="Oval 10"/>
          <p:cNvSpPr/>
          <p:nvPr/>
        </p:nvSpPr>
        <p:spPr>
          <a:xfrm>
            <a:off x="5532120" y="1737360"/>
            <a:ext cx="1051560" cy="105156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463040"/>
            <a:ext cx="342900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B365D"/>
                </a:solidFill>
              </a:defRPr>
            </a:pPr>
            <a:br/>
            <a:br/>
            <a:br/>
            <a:br/>
            <a:r>
              <a:t>3. Penerapan Tahap Static Testing</a:t>
            </a:r>
          </a:p>
          <a:p>
            <a:pPr algn="ctr">
              <a:spcBef>
                <a:spcPts val="400"/>
              </a:spcBef>
              <a:defRPr b="1" sz="950">
                <a:solidFill>
                  <a:srgbClr val="D97706"/>
                </a:solidFill>
              </a:defRPr>
            </a:pPr>
            <a:r>
              <a:t>MAHASISWA MAMPU MENERAPKAN TAHAP STATIC TESTING</a:t>
            </a:r>
          </a:p>
          <a:p>
            <a:pPr>
              <a:spcBef>
                <a:spcPts val="1200"/>
              </a:spcBef>
              <a:defRPr sz="1000">
                <a:solidFill>
                  <a:srgbClr val="0F172A"/>
                </a:solidFill>
              </a:defRPr>
            </a:pPr>
            <a:r>
              <a:t>Menyusun instrumen Software Inspection Checklist dan mengintegrasikan kakas bantu otomatis (Linter, SAST, E2E Runner) pada kode sumber riil.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0" y="1737360"/>
            <a:ext cx="1051560" cy="10515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4114800" cy="23774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SPESIFIKASI SUT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Spesifikasi Teknis System Under Test (SUT): GadgetTrustX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SUT: GadgetTrustX (https://gadgetrustx.netlify.app) | PKPL Kelas B - Kelompok 13 | Test Design Specification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4864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B365D"/>
                </a:solidFill>
              </a:defRPr>
            </a:pPr>
            <a:r>
              <a:t>Profil Arsitektur &amp; Teknologi SUT GadgetTrustX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</a:defRPr>
            </a:pPr>
            <a:r>
              <a:t>• Nama Platform: GadgetTrustX (Marketplace Gadget Terverifikasi, AI Trade-In &amp; Escrow)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</a:defRPr>
            </a:pPr>
            <a:r>
              <a:t>• URL Live Deploy: https://gadgetrustx.netlify.app/ (Production Serverless Environment)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</a:defRPr>
            </a:pPr>
            <a:r>
              <a:t>• Repositori Git: https://github.com/Andrakkkk/GadgetTrustX (Branch: main &amp; main2)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</a:defRPr>
            </a:pPr>
            <a:r>
              <a:t>• Framework Utama: Next.js 16.2.4 (React 19.2.4 Compiler, Turbopack, App Router)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</a:defRPr>
            </a:pPr>
            <a:r>
              <a:t>• Runtime &amp; Bahasa: Node.js v24.19.0, JavaScript (ES2024 Modules / ESM)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</a:defRPr>
            </a:pPr>
            <a:r>
              <a:t>• Styling Antarmuka: Tailwind CSS v4 Engine, Lucide Icons, GSAP Motion Animations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</a:defRPr>
            </a:pPr>
            <a:r>
              <a:t>• Backend &amp; Database: Supabase Database (PostgreSQL 15), Supabase SSR Client, Row Level Security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</a:defRPr>
            </a:pPr>
            <a:r>
              <a:t>• Payment Gateway: Midtrans Client SDK v1.4.3 (Escrow &amp; Virtual Account Integration)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</a:defRPr>
            </a:pPr>
            <a:r>
              <a:t>• Mesin Kecerdasan: Google Gemini AI Flash 2.5 API (Dynamic Price Valuation &amp; Trade-In)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</a:defRPr>
            </a:pPr>
            <a:r>
              <a:t>• Testing Harness: Playwright Test Suite v1.63, k6 Load Tester, Node.js Native Test Runner</a:t>
            </a:r>
          </a:p>
        </p:txBody>
      </p:sp>
      <p:pic>
        <p:nvPicPr>
          <p:cNvPr id="9" name="Picture 8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4937760" cy="28126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92240" y="5486400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475569"/>
                </a:solidFill>
              </a:defRPr>
            </a:pPr>
            <a:r>
              <a:t>Gambar 1: Antarmuka Beranda SUT GadgetTrustX (https://gadgetrustx.netlify.app)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4114800" cy="23774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COVERAGE ITEMS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Aspek: Security (Coverage Items for Security) [1][2]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SUT: GadgetTrustX (https://gadgetrustx.netlify.app) | PKPL Kelas B - Kelompok 13 | Test Design Specification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12064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i="1">
                <a:solidFill>
                  <a:srgbClr val="475569"/>
                </a:solidFill>
              </a:defRPr>
            </a:pPr>
            <a:r>
              <a:t>Fokus Dokumen: NFR-001 s/d NFR-005 (12 Test Cases) — Validasi kredensial login, AuthGuard protected route, sanitasi anti-SQLi/XSS, dan pembersihan sesi logout.</a:t>
            </a:r>
          </a:p>
          <a:p>
            <a:pPr>
              <a:spcBef>
                <a:spcPts val="600"/>
              </a:spcBef>
              <a:defRPr sz="1100" b="1">
                <a:solidFill>
                  <a:srgbClr val="1B365D"/>
                </a:solidFill>
              </a:defRPr>
            </a:pPr>
            <a:r>
              <a:t>Kriteria &amp; Pertanyaan Inspeksi (Inspection Checklist):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1. NFR-001: Apakah form login memvalidasi email, password kosong, dan menerapkan type=password?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2. NFR-002: Apakah rute sensitif (/buyer-profile, /seller-profile, /admin) terproteksi oleh AuthGuard?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3. NFR-003: Apakah input formulir IMEI disanitasi dari muatan SQL Injection (' OR 1=1 --) dan XSS?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4. NFR-004 &amp; 005: Apakah rahasia API (Turnstile, service role) terisolasi dan sesi dibersihkan saat logout?</a:t>
            </a:r>
          </a:p>
        </p:txBody>
      </p:sp>
      <p:pic>
        <p:nvPicPr>
          <p:cNvPr id="9" name="Picture 8" descr="ver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343400"/>
            <a:ext cx="5120640" cy="29168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17220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475569"/>
                </a:solidFill>
              </a:defRPr>
            </a:pPr>
            <a:r>
              <a:t>Gambar 2: Modul Scanner IMEI dengan Proteksi Anti-Injection SUT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234440"/>
            <a:ext cx="5394960" cy="5074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Consolas"/>
              </a:defRPr>
            </a:pPr>
            <a:r>
              <a:t>●  ●  ●   Source Code SUT yang Diinspeksi (src/components/AuthGuard.jsx &amp; e2e/security.spec.js)</a:t>
            </a:r>
          </a:p>
          <a:p>
            <a:pPr>
              <a:spcBef>
                <a:spcPts val="150"/>
              </a:spcBef>
              <a:defRPr sz="850">
                <a:solidFill>
                  <a:srgbClr val="64748B"/>
                </a:solidFill>
                <a:latin typeface="Consolas"/>
              </a:defRPr>
            </a:pPr>
            <a:r>
              <a:t>// File: src/components/AuthGuard.jsx (Route Protection NFR-002)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export default function AuthGuard({ children }) {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  const { user, isLoading } = useAuth();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  const router = useRouter();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useEffect(() =&gt; {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  if (!isLoading &amp;&amp; !user) router.push('/login');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}, [user, isLoading, router]);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if (isLoading || !user) return &lt;LoadingSpinner /&gt;;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  return children;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50"/>
              </a:spcBef>
              <a:defRPr sz="850">
                <a:solidFill>
                  <a:srgbClr val="64748B"/>
                </a:solidFill>
                <a:latin typeface="Consolas"/>
              </a:defRPr>
            </a:pPr>
            <a:r>
              <a:t>// File: e2e/security.spec.js (Playwright Security Harness NFR-003)</a:t>
            </a:r>
          </a:p>
          <a:p>
            <a:pPr>
              <a:spcBef>
                <a:spcPts val="150"/>
              </a:spcBef>
              <a:defRPr sz="850">
                <a:solidFill>
                  <a:srgbClr val="FDBA74"/>
                </a:solidFill>
                <a:latin typeface="Consolas"/>
              </a:defRPr>
            </a:pPr>
            <a:r>
              <a:t>test('TC-SEC-07: Sanitasi SQL Injection', async ({ page }) =&gt; {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await page.goto('/verification');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await imeiInput.fill("' OR 1=1 --");</a:t>
            </a:r>
          </a:p>
          <a:p>
            <a:pPr>
              <a:spcBef>
                <a:spcPts val="150"/>
              </a:spcBef>
              <a:defRPr sz="850">
                <a:solidFill>
                  <a:srgbClr val="FDBA74"/>
                </a:solidFill>
                <a:latin typeface="Consolas"/>
              </a:defRPr>
            </a:pPr>
            <a:r>
              <a:t>  await expect(imeiInput).toHaveValue('11');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});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4114800" cy="23774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COVERAGE ITEMS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Aspek: Functionality (Coverage Items for Functionality) [3]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SUT: GadgetTrustX (https://gadgetrustx.netlify.app) | PKPL Kelas B - Kelompok 13 | Test Design Specification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12064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i="1">
                <a:solidFill>
                  <a:srgbClr val="475569"/>
                </a:solidFill>
              </a:defRPr>
            </a:pPr>
            <a:r>
              <a:t>Fokus Dokumen: NFR-006 s/d NFR-011 (19 Test Cases) — Memenuhi alur bisnis autentikasi, hero navigasi, marketplace, AI valuation, trade-in, dan validasi IMEI.</a:t>
            </a:r>
          </a:p>
          <a:p>
            <a:pPr>
              <a:spcBef>
                <a:spcPts val="600"/>
              </a:spcBef>
              <a:defRPr sz="1100" b="1">
                <a:solidFill>
                  <a:srgbClr val="1B365D"/>
                </a:solidFill>
              </a:defRPr>
            </a:pPr>
            <a:r>
              <a:t>Kriteria &amp; Pertanyaan Inspeksi (Inspection Checklist):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1. NFR-006 &amp; 007: Apakah fungsi autentikasi (role switch, register) dan navigasi beranda beroperasi tepat?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2. NFR-008: Apakah katalog marketplace dan fitur pencarian perangkat menyajikan data inventaris valid?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3. NFR-009: Apakah kalkulator Price Checker dan alur wizard 3-step Smart Match bekerja sesuai spesifikasi?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4. NFR-010 &amp; 011: Apakah alur Trade-In 6 sudut foto dan verifikasi TAC 80+ model IMEI berjalan sempurna?</a:t>
            </a:r>
          </a:p>
        </p:txBody>
      </p:sp>
      <p:pic>
        <p:nvPicPr>
          <p:cNvPr id="9" name="Picture 8" descr="trade-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343400"/>
            <a:ext cx="5120640" cy="29168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17220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475569"/>
                </a:solidFill>
              </a:defRPr>
            </a:pPr>
            <a:r>
              <a:t>Gambar 3: Halaman Trade-In Hub dengan Upload 6 Sudut Foto SUT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234440"/>
            <a:ext cx="5394960" cy="5074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Consolas"/>
              </a:defRPr>
            </a:pPr>
            <a:r>
              <a:t>●  ●  ●   Source Code SUT yang Diinspeksi (e2e/marketplace.spec.js &amp; imei-check/route.js)</a:t>
            </a:r>
          </a:p>
          <a:p>
            <a:pPr>
              <a:spcBef>
                <a:spcPts val="150"/>
              </a:spcBef>
              <a:defRPr sz="850">
                <a:solidFill>
                  <a:srgbClr val="64748B"/>
                </a:solidFill>
                <a:latin typeface="Consolas"/>
              </a:defRPr>
            </a:pPr>
            <a:r>
              <a:t>// File: e2e/marketplace.spec.js (Playwright Functionality NFR-008)</a:t>
            </a:r>
          </a:p>
          <a:p>
            <a:pPr>
              <a:spcBef>
                <a:spcPts val="150"/>
              </a:spcBef>
              <a:defRPr sz="850">
                <a:solidFill>
                  <a:srgbClr val="FDBA74"/>
                </a:solidFill>
                <a:latin typeface="Consolas"/>
              </a:defRPr>
            </a:pPr>
            <a:r>
              <a:t>test('TC-MKT-02: Membuka katalog produk &amp; pencarian', async ({ page }) =&gt; {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await page.goto('/marketplace');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  const searchInput = page.getByPlaceholder(/Cari gadget.../i);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await searchInput.fill('iPhone');</a:t>
            </a:r>
          </a:p>
          <a:p>
            <a:pPr>
              <a:spcBef>
                <a:spcPts val="150"/>
              </a:spcBef>
              <a:defRPr sz="850">
                <a:solidFill>
                  <a:srgbClr val="FDBA74"/>
                </a:solidFill>
                <a:latin typeface="Consolas"/>
              </a:defRPr>
            </a:pPr>
            <a:r>
              <a:t>  await expect(page.locator('.device-card')).toBeVisible();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});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50"/>
              </a:spcBef>
              <a:defRPr sz="850">
                <a:solidFill>
                  <a:srgbClr val="64748B"/>
                </a:solidFill>
                <a:latin typeface="Consolas"/>
              </a:defRPr>
            </a:pPr>
            <a:r>
              <a:t>// File: src/app/api/imei-check/route.js (TAC Lookup NFR-011)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const tac = imei.substring(0, 8);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const deviceData = TAC_DATABASE[tac] || guessBrandFromPrefix(tac);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return NextResponse.json({ status: 'VERIFIED', device: deviceData });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4114800" cy="23774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COVERAGE ITEMS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Aspek: Performance (Coverage Items for Performance) [4]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SUT: GadgetTrustX (https://gadgetrustx.netlify.app) | PKPL Kelas B - Kelompok 13 | Test Design Specification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12064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i="1">
                <a:solidFill>
                  <a:srgbClr val="475569"/>
                </a:solidFill>
              </a:defRPr>
            </a:pPr>
            <a:r>
              <a:t>Fokus Dokumen: NFR-012 s/d NFR-015 (4 Test Cases k6) — Pengujian kuantitatif Core Web Vitals (LCP, CLS), load time beranda, dan efisiensi waktu respon navigasi.</a:t>
            </a:r>
          </a:p>
          <a:p>
            <a:pPr>
              <a:spcBef>
                <a:spcPts val="600"/>
              </a:spcBef>
              <a:defRPr sz="1100" b="1">
                <a:solidFill>
                  <a:srgbClr val="1B365D"/>
                </a:solidFill>
              </a:defRPr>
            </a:pPr>
            <a:r>
              <a:t>Kriteria &amp; Pertanyaan Inspeksi (Inspection Checklist):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1. NFR-012: Apakah Largest Contentful Paint (LCP) pada Beranda, Marketplace, dan AI Valuation &lt;= 2.5 detik?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2. NFR-013: Apakah skor Cumulative Layout Shift (CLS) stabil dan tidak melebihi ambang batas &lt;= 0.1?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3. NFR-014: Apakah waktu muat awal halaman beranda (TTFB + Load) tuntas dalam durasi kurang dari 3 detik?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4. NFR-015: Apakah waktu respon navigasi transisi antar rute beroperasi cepat dengan latensi di bawah 2 detik?</a:t>
            </a:r>
          </a:p>
        </p:txBody>
      </p:sp>
      <p:pic>
        <p:nvPicPr>
          <p:cNvPr id="9" name="Picture 8" descr="smart-matc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343400"/>
            <a:ext cx="5120640" cy="29168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17220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475569"/>
                </a:solidFill>
              </a:defRPr>
            </a:pPr>
            <a:r>
              <a:t>Gambar 4: Modul Smart Matching AI dengan Evaluasi Kinerja Kuantitatif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234440"/>
            <a:ext cx="5394960" cy="5074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Consolas"/>
              </a:defRPr>
            </a:pPr>
            <a:r>
              <a:t>●  ●  ●   Source Code SUT yang Diinspeksi (tests/performance/coverage-items-load-test.js)</a:t>
            </a:r>
          </a:p>
          <a:p>
            <a:pPr>
              <a:spcBef>
                <a:spcPts val="150"/>
              </a:spcBef>
              <a:defRPr sz="850">
                <a:solidFill>
                  <a:srgbClr val="64748B"/>
                </a:solidFill>
                <a:latin typeface="Consolas"/>
              </a:defRPr>
            </a:pPr>
            <a:r>
              <a:t>// File: tests/performance/coverage-items-load-test.js (k6 Load Test)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import http from 'k6/http';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import { check, sleep } from 'k6';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export const options = {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thresholds: {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  http_req_duration: ['p(95)&lt;2000'], // NFR-015: respon &lt; 2 detik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  'browser_web_vital_lcp': ['p(90)&lt;2500'], // NFR-012: LCP &lt;= 2.5s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  'browser_web_vital_cls': ['p(90)&lt;0.1'],  // NFR-013: CLS &lt;= 0.1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},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};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export default function () {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  const res = http.get('https://gadgetrustx.netlify.app/');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check(res, { 'status is 200': (r) =&gt; r.status === 200 });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4114800" cy="23774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COVERAGE ITEMS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Aspek: Usability (Coverage Items for Usability) [5]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SUT: GadgetTrustX (https://gadgetrustx.netlify.app) | PKPL Kelas B - Kelompok 13 | Test Design Specification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12064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i="1">
                <a:solidFill>
                  <a:srgbClr val="475569"/>
                </a:solidFill>
              </a:defRPr>
            </a:pPr>
            <a:r>
              <a:t>Fokus Dokumen: NFR-016 &amp; NFR-017 (6 Test Cases) — Kemudahan navigasi visual, mobile responsiveness, input masking formulir, dan pencegahan galat (Error Prevention Heuristics).</a:t>
            </a:r>
          </a:p>
          <a:p>
            <a:pPr>
              <a:spcBef>
                <a:spcPts val="600"/>
              </a:spcBef>
              <a:defRPr sz="1100" b="1">
                <a:solidFill>
                  <a:srgbClr val="1B365D"/>
                </a:solidFill>
              </a:defRPr>
            </a:pPr>
            <a:r>
              <a:t>Kriteria &amp; Pertanyaan Inspeksi (Inspection Checklist):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1. NFR-016: Apakah struktur navigasi 5 menu utama intuitif dan drawer mobile menutup otomatis saat rute berpindah?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2. NFR-016: Apakah format nilai harga disajikan dalam standar Rupiah (IDR) dan menyematkan badge seller 'Verified'?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3. NFR-017: Apakah form menerapkan input masking real-time (otomatis menyaring non-angka &amp; membatasi 15 digit)?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4. NFR-017: Apakah tombol submit berstatus disabled saat data belum lengkap guna mencegah double-submission?</a:t>
            </a:r>
          </a:p>
        </p:txBody>
      </p:sp>
      <p:pic>
        <p:nvPicPr>
          <p:cNvPr id="9" name="Picture 8" descr="TC-USB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343400"/>
            <a:ext cx="5120640" cy="20619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17220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475569"/>
                </a:solidFill>
              </a:defRPr>
            </a:pPr>
            <a:r>
              <a:t>Gambar 5: Bukti Pengujian Playwright untuk Usability Navigasi (TC-USB-01)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234440"/>
            <a:ext cx="5394960" cy="5074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Consolas"/>
              </a:defRPr>
            </a:pPr>
            <a:r>
              <a:t>●  ●  ●   Source Code SUT yang Diinspeksi (e2e/usability-feedback.spec.js &amp; Navbar.jsx)</a:t>
            </a:r>
          </a:p>
          <a:p>
            <a:pPr>
              <a:spcBef>
                <a:spcPts val="150"/>
              </a:spcBef>
              <a:defRPr sz="850">
                <a:solidFill>
                  <a:srgbClr val="64748B"/>
                </a:solidFill>
                <a:latin typeface="Consolas"/>
              </a:defRPr>
            </a:pPr>
            <a:r>
              <a:t>// File: e2e/usability-feedback.spec.js (Playwright Usability NFR-017)</a:t>
            </a:r>
          </a:p>
          <a:p>
            <a:pPr>
              <a:spcBef>
                <a:spcPts val="150"/>
              </a:spcBef>
              <a:defRPr sz="850">
                <a:solidFill>
                  <a:srgbClr val="FDBA74"/>
                </a:solidFill>
                <a:latin typeface="Consolas"/>
              </a:defRPr>
            </a:pPr>
            <a:r>
              <a:t>test('TC-USB-04: Validasi input masking IMEI', async ({ page }) =&gt; {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await page.goto('/verification');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  const imeiInput = page.getByPlaceholder(/Masukkan IMEI 15 digit/i);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await imeiInput.fill('3546-8515-ABCD-564');</a:t>
            </a:r>
          </a:p>
          <a:p>
            <a:pPr>
              <a:spcBef>
                <a:spcPts val="150"/>
              </a:spcBef>
              <a:defRPr sz="850">
                <a:solidFill>
                  <a:srgbClr val="FDBA74"/>
                </a:solidFill>
                <a:latin typeface="Consolas"/>
              </a:defRPr>
            </a:pPr>
            <a:r>
              <a:t>  await expect(imeiInput).toHaveValue('35468515564');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});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50"/>
              </a:spcBef>
              <a:defRPr sz="850">
                <a:solidFill>
                  <a:srgbClr val="FDBA74"/>
                </a:solidFill>
                <a:latin typeface="Consolas"/>
              </a:defRPr>
            </a:pPr>
            <a:r>
              <a:t>test('TC-USB-05: Tombol disabled saat data belum lengkap', async ({ page }) =&gt; {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  const verifyBtn = page.getByRole('button', { name: /Verifikasi/i });</a:t>
            </a:r>
          </a:p>
          <a:p>
            <a:pPr>
              <a:spcBef>
                <a:spcPts val="150"/>
              </a:spcBef>
              <a:defRPr sz="850">
                <a:solidFill>
                  <a:srgbClr val="FDBA74"/>
                </a:solidFill>
                <a:latin typeface="Consolas"/>
              </a:defRPr>
            </a:pPr>
            <a:r>
              <a:t>  await expect(verifyBtn).toBeDisabled();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});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4114800" cy="23774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COVERAGE ITEMS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Aspek: Reliability (Coverage Items for Reliability) [6]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SUT: GadgetTrustX (https://gadgetrustx.netlify.app) | PKPL Kelas B - Kelompok 13 | Test Design Specification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12064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i="1">
                <a:solidFill>
                  <a:srgbClr val="475569"/>
                </a:solidFill>
              </a:defRPr>
            </a:pPr>
            <a:r>
              <a:t>Fokus Dokumen: NFR-018 &amp; NFR-019 (3 Test Cases) — Keutuhan link internal bebas broken link, penanganan halaman 404, dan monitoring konsol browser terhadap galat runtime.</a:t>
            </a:r>
          </a:p>
          <a:p>
            <a:pPr>
              <a:spcBef>
                <a:spcPts val="600"/>
              </a:spcBef>
              <a:defRPr sz="1100" b="1">
                <a:solidFill>
                  <a:srgbClr val="1B365D"/>
                </a:solidFill>
              </a:defRPr>
            </a:pPr>
            <a:r>
              <a:t>Kriteria &amp; Pertanyaan Inspeksi (Inspection Checklist):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1. NFR-018: Apakah seluruh tautan internal pada halaman utama berstatus sehat dan merespons tanpa error (status &lt; 400)?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2. NFR-019: Apakah rute yang tidak terdaftar ditangani dengan elegan dengan menyajikan halaman galat 404 informatif?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3. NFR-019: Apakah konsol browser bebas dari kegagalan eksekusi skrip JavaScript kritis saat halaman dimuat?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4. Evaluasi: Apakah temuan React hydration mismatch (#418) pada serverless environment telah terisolasi aman?</a:t>
            </a:r>
          </a:p>
        </p:txBody>
      </p:sp>
      <p:pic>
        <p:nvPicPr>
          <p:cNvPr id="9" name="Picture 8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343400"/>
            <a:ext cx="5120640" cy="29168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17220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475569"/>
                </a:solidFill>
              </a:defRPr>
            </a:pPr>
            <a:r>
              <a:t>Gambar 6: Halaman Beranda SUT dengan 10 Link Navigasi Terverifikasi Sehat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234440"/>
            <a:ext cx="5394960" cy="5074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Consolas"/>
              </a:defRPr>
            </a:pPr>
            <a:r>
              <a:t>●  ●  ●   Source Code SUT yang Diinspeksi (testing/tests/reliability/reliability.spec.ts)</a:t>
            </a:r>
          </a:p>
          <a:p>
            <a:pPr>
              <a:spcBef>
                <a:spcPts val="150"/>
              </a:spcBef>
              <a:defRPr sz="850">
                <a:solidFill>
                  <a:srgbClr val="64748B"/>
                </a:solidFill>
                <a:latin typeface="Consolas"/>
              </a:defRPr>
            </a:pPr>
            <a:r>
              <a:t>// File: testing/tests/reliability/reliability.spec.ts (NFR-018 &amp; 019)</a:t>
            </a:r>
          </a:p>
          <a:p>
            <a:pPr>
              <a:spcBef>
                <a:spcPts val="150"/>
              </a:spcBef>
              <a:defRPr sz="850">
                <a:solidFill>
                  <a:srgbClr val="FDBA74"/>
                </a:solidFill>
                <a:latin typeface="Consolas"/>
              </a:defRPr>
            </a:pPr>
            <a:r>
              <a:t>test('TC-024: Verifikasi semua link internal di beranda', async ({ page }) =&gt; {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await page.goto('/');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  const links = await page.locator('nav a, footer a').all();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for (const link of links) {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    const href = await link.getAttribute('href');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    const res = await page.request.get(href);</a:t>
            </a:r>
          </a:p>
          <a:p>
            <a:pPr>
              <a:spcBef>
                <a:spcPts val="150"/>
              </a:spcBef>
              <a:defRPr sz="850">
                <a:solidFill>
                  <a:srgbClr val="FDBA74"/>
                </a:solidFill>
                <a:latin typeface="Consolas"/>
              </a:defRPr>
            </a:pPr>
            <a:r>
              <a:t>    expect(res.status()).toBeLessThan(400);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});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50"/>
              </a:spcBef>
              <a:defRPr sz="850">
                <a:solidFill>
                  <a:srgbClr val="FDBA74"/>
                </a:solidFill>
                <a:latin typeface="Consolas"/>
              </a:defRPr>
            </a:pPr>
            <a:r>
              <a:t>test('TC-025: Halaman 404 untuk rute tidak ada', async ({ page }) =&gt; {</a:t>
            </a:r>
          </a:p>
          <a:p>
            <a:pPr>
              <a:spcBef>
                <a:spcPts val="150"/>
              </a:spcBef>
              <a:defRPr sz="850">
                <a:solidFill>
                  <a:srgbClr val="BAE6FD"/>
                </a:solidFill>
                <a:latin typeface="Consolas"/>
              </a:defRPr>
            </a:pPr>
            <a:r>
              <a:t>  const res = await page.goto('/halaman-acak-tidak-ada');</a:t>
            </a:r>
          </a:p>
          <a:p>
            <a:pPr>
              <a:spcBef>
                <a:spcPts val="150"/>
              </a:spcBef>
              <a:defRPr sz="850">
                <a:solidFill>
                  <a:srgbClr val="FDBA74"/>
                </a:solidFill>
                <a:latin typeface="Consolas"/>
              </a:defRPr>
            </a:pPr>
            <a:r>
              <a:t>  expect(res.status()).toBe(404);</a:t>
            </a:r>
          </a:p>
          <a:p>
            <a:pPr>
              <a:spcBef>
                <a:spcPts val="150"/>
              </a:spcBef>
              <a:defRPr sz="850">
                <a:solidFill>
                  <a:srgbClr val="E2E8F0"/>
                </a:solidFill>
                <a:latin typeface="Consolas"/>
              </a:defRPr>
            </a:pPr>
            <a:r>
              <a:t>});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4114800" cy="23774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CHECKLIST INSTRUMENT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Rangkuman Software Inspection Checklist (Sesuai Form Dokumen)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SUT: GadgetTrustX (https://gadgetrustx.netlify.app) | PKPL Kelas B - Kelompok 13 | Test Design Specification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28016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011680"/>
                <a:gridCol w="5120640"/>
                <a:gridCol w="2864815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Aspek (Coverage Items)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Kriteria dalam Checklist yang Diinspeksi (Sesuai Form)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Status (Ya / Catatan Evaluasi)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B365D"/>
                          </a:solidFill>
                        </a:defRPr>
                      </a:pPr>
                      <a:r>
                        <a:t>Security [1][2]</a:t>
                      </a:r>
                      <a:br/>
                      <a:r>
                        <a:t>(NFR-001 s/d NFR-005)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Validasi kredensial login, type=password, AuthGuard route protection, sanitasi input anti-SQLi/XSS, isolasi rahasia Turnstile, dan pembersihan sesi logout.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59669"/>
                          </a:solidFill>
                        </a:defRPr>
                      </a:pPr>
                      <a:r>
                        <a:t>[✓] Ya — Terpenuhi 100%</a:t>
                      </a:r>
                      <a:br/>
                      <a:r>
                        <a:t>12/12 Test Cases Lulus pada Playwright Security Suite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B365D"/>
                          </a:solidFill>
                        </a:defRPr>
                      </a:pPr>
                      <a:r>
                        <a:t>Functionality [3]</a:t>
                      </a:r>
                      <a:br/>
                      <a:r>
                        <a:t>(NFR-006 s/d NFR-011)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Setiap fungsi autentikasi, navigasi beranda, katalog marketplace, valuasi harga AI, Trade-In HP bekas, dan verifikasi TAC IMEI beroperasi sesuai requirement.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59669"/>
                          </a:solidFill>
                        </a:defRPr>
                      </a:pPr>
                      <a:r>
                        <a:t>[✓] Ya — Terpenuhi 100%</a:t>
                      </a:r>
                      <a:br/>
                      <a:r>
                        <a:t>19/19 Test Cases Lulus pada Playwright E2E Suite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B365D"/>
                          </a:solidFill>
                        </a:defRPr>
                      </a:pPr>
                      <a:r>
                        <a:t>Performance [4]</a:t>
                      </a:r>
                      <a:br/>
                      <a:r>
                        <a:t>(NFR-012 s/d NFR-015)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LCP &lt;= 2.5s pada 3 halaman utama, CLS &lt;= 0.1 stabil, waktu muat beranda &lt; 3 detik, dan respon navigasi antar halaman &lt; 2 detik pada kondisi pengujian.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59669"/>
                          </a:solidFill>
                        </a:defRPr>
                      </a:pPr>
                      <a:r>
                        <a:t>[✓] Ya — Terpenuhi 100%</a:t>
                      </a:r>
                      <a:br/>
                      <a:r>
                        <a:t>4/4 Test Cases Lulus pada Pengujian Beban k6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B365D"/>
                          </a:solidFill>
                        </a:defRPr>
                      </a:pPr>
                      <a:r>
                        <a:t>Usability [5]</a:t>
                      </a:r>
                      <a:br/>
                      <a:r>
                        <a:t>(NFR-016 &amp; NFR-017)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Navigasi intuitif (5 menu), responsive mobile drawer, format harga Rupiah (IDR), input masking real-time form IMEI, dan status tombol disabled saat loading.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59669"/>
                          </a:solidFill>
                        </a:defRPr>
                      </a:pPr>
                      <a:r>
                        <a:t>[✓] Ya — Terpenuhi 100%</a:t>
                      </a:r>
                      <a:br/>
                      <a:r>
                        <a:t>6/6 Test Cases Lulus pada Playwright Usability Suite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B365D"/>
                          </a:solidFill>
                        </a:defRPr>
                      </a:pPr>
                      <a:r>
                        <a:t>Reliability [6]</a:t>
                      </a:r>
                      <a:br/>
                      <a:r>
                        <a:t>(NFR-018 &amp; NFR-019)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Semua link internal beranda bebas broken link (status &lt; 400), penanganan rute tidak terdaftar via halaman 404, dan monitoring console JavaScript.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D97706"/>
                          </a:solidFill>
                        </a:defRPr>
                      </a:pPr>
                      <a:r>
                        <a:t>[✓] Ya — Terpenuhi Sebagian</a:t>
                      </a:r>
                      <a:br/>
                      <a:r>
                        <a:t>2/3 Lulus (Catatan: Temuan React Hydration Mismatch #418)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4114800" cy="23774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AUTOMATED TESTING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Kakas Bantu (Tools) untuk Otomatisasi Static &amp; Dynamic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SUT: GadgetTrustX (https://gadgetrustx.netlify.app) | PKPL Kelas B - Kelompok 13 | Test Design Specification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B365D"/>
                </a:solidFill>
              </a:defRPr>
            </a:pPr>
            <a:r>
              <a:t>1. Playwright Test Suite v1.63</a:t>
            </a:r>
          </a:p>
          <a:p>
            <a:pPr>
              <a:defRPr b="1" sz="850">
                <a:solidFill>
                  <a:srgbClr val="0284C7"/>
                </a:solidFill>
              </a:defRPr>
            </a:pPr>
            <a:r>
              <a:t>PENGUJIAN OTOMATIS END-TO-END (SECURITY, FUNCTIONALITY &amp; USABILITY)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Menjalankan browser automation headless untuk memverifikasi alur otentikasi login, navigasi navbar, input masking IMEI, dan error prevention tanpa intervensi manual.</a:t>
            </a:r>
          </a:p>
          <a:p>
            <a:pPr>
              <a:spcBef>
                <a:spcPts val="300"/>
              </a:spcBef>
              <a:defRPr sz="900" i="1">
                <a:solidFill>
                  <a:srgbClr val="0284C7"/>
                </a:solidFill>
              </a:defRPr>
            </a:pPr>
            <a:r>
              <a:t>• Fitur Otomatis: Trace Viewer, HTML web report interaktif, assertion web-first (toBeVisible, toBeDisabled), dan eksekusi multi-worker paralel.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B365D"/>
                </a:solidFill>
              </a:defRPr>
            </a:pPr>
            <a:r>
              <a:t>2. k6 Load Tester (Grafana Labs)</a:t>
            </a:r>
          </a:p>
          <a:p>
            <a:pPr>
              <a:defRPr b="1" sz="850">
                <a:solidFill>
                  <a:srgbClr val="0284C7"/>
                </a:solidFill>
              </a:defRPr>
            </a:pPr>
            <a:r>
              <a:t>PENGUKURAN KUANTITATIF PERFORMANCE &amp; CORE WEB VITALS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Menguji performa halaman di bawah beban lalu lintas virtual user, mengukur metrik Largest Contentful Paint (LCP), Cumulative Layout Shift (CLS), dan waktu respons navigasi antar rute.</a:t>
            </a:r>
          </a:p>
          <a:p>
            <a:pPr>
              <a:spcBef>
                <a:spcPts val="300"/>
              </a:spcBef>
              <a:defRPr sz="900" i="1">
                <a:solidFill>
                  <a:srgbClr val="0284C7"/>
                </a:solidFill>
              </a:defRPr>
            </a:pPr>
            <a:r>
              <a:t>• Fitur Otomatis: Threshold otomatis batas lulus (p(95)&lt;2000ms untuk navigasi, p(90)&lt;2500ms untuk LCP).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B365D"/>
                </a:solidFill>
              </a:defRPr>
            </a:pPr>
            <a:r>
              <a:t>3. ESLint (v9) &amp; Next.js Linter</a:t>
            </a:r>
          </a:p>
          <a:p>
            <a:pPr>
              <a:defRPr b="1" sz="850">
                <a:solidFill>
                  <a:srgbClr val="0284C7"/>
                </a:solidFill>
              </a:defRPr>
            </a:pPr>
            <a:r>
              <a:t>ANALISIS KUALITAS KODE STATIS &amp; SINTAKS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Mendeteksi syntax error, variabel tidak terpakai (unused vars), potensi memory leak pada useEffect/React Hooks, serta menegakkan konvensi formatting kode secara otomatis saat build.</a:t>
            </a:r>
          </a:p>
          <a:p>
            <a:pPr>
              <a:spcBef>
                <a:spcPts val="300"/>
              </a:spcBef>
              <a:defRPr sz="900" i="1">
                <a:solidFill>
                  <a:srgbClr val="0284C7"/>
                </a:solidFill>
              </a:defRPr>
            </a:pPr>
            <a:r>
              <a:t>• Fitur Otomatis: Perintah `npm run lint` terintegrasi langsung dalam siklus build Next.js dan Turbopack compiler.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840480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B365D"/>
                </a:solidFill>
              </a:defRPr>
            </a:pPr>
            <a:r>
              <a:t>4. Node.js Native Test Runner (node:test)</a:t>
            </a:r>
          </a:p>
          <a:p>
            <a:pPr>
              <a:defRPr b="1" sz="850">
                <a:solidFill>
                  <a:srgbClr val="0284C7"/>
                </a:solidFill>
              </a:defRPr>
            </a:pPr>
            <a:r>
              <a:t>ORKESTRASI SUITE PENGUJIAN OTOMATIS &amp; GENERASI LAPORAN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Mengeksekusi automated test script (usability &amp; logic verification) secara native dan terisolasi tanpa overhead browser, serta mengompilasi rekapitulasi pengujian ke dalam laporan HTML visual mandiri.</a:t>
            </a:r>
          </a:p>
          <a:p>
            <a:pPr>
              <a:spcBef>
                <a:spcPts val="300"/>
              </a:spcBef>
              <a:defRPr sz="900" i="1">
                <a:solidFill>
                  <a:srgbClr val="0284C7"/>
                </a:solidFill>
              </a:defRPr>
            </a:pPr>
            <a:r>
              <a:t>• Fitur Otomatis: Eksekusi batch CLI (node tests/run-usability.mjs), assertions ketat (node:assert/strict), dan generator laporan visual HTML interaktif.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4114800" cy="23774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HASIL PENGUJIAN SUT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Ringkasan Hasil Eksekusi Pengujian Otomatis (Kelompok 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SUT: GadgetTrustX (https://gadgetrustx.netlify.app) | PKPL Kelas B - Kelompok 13 | Test Design Specification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1206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1B365D"/>
                </a:solidFill>
              </a:defRPr>
            </a:pPr>
            <a:r>
              <a:t>1. Security (NFR-001 s/d NFR-005)</a:t>
            </a:r>
          </a:p>
          <a:p>
            <a:pPr>
              <a:spcBef>
                <a:spcPts val="300"/>
              </a:spcBef>
              <a:defRPr b="1" sz="1600">
                <a:solidFill>
                  <a:srgbClr val="E11D48"/>
                </a:solidFill>
              </a:defRPr>
            </a:pPr>
            <a:r>
              <a:t>12 / 12 Lulus (100%)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Otentikasi Login, Route Protection AuthGuard, Sanitasi SQLi/XSS, Turnstile, &amp; Secure Logout.</a:t>
            </a:r>
          </a:p>
          <a:p>
            <a:pPr>
              <a:spcBef>
                <a:spcPts val="300"/>
              </a:spcBef>
              <a:defRPr sz="850" i="1">
                <a:solidFill>
                  <a:srgbClr val="475569"/>
                </a:solidFill>
              </a:defRPr>
            </a:pPr>
            <a:r>
              <a:t>Status: Terverifikasi di GitHub main2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1206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1B365D"/>
                </a:solidFill>
              </a:defRPr>
            </a:pPr>
            <a:r>
              <a:t>2. Functionality (NFR-006 s/d NFR-011)</a:t>
            </a:r>
          </a:p>
          <a:p>
            <a:pPr>
              <a:spcBef>
                <a:spcPts val="300"/>
              </a:spcBef>
              <a:defRPr b="1" sz="1600">
                <a:solidFill>
                  <a:srgbClr val="0284C7"/>
                </a:solidFill>
              </a:defRPr>
            </a:pPr>
            <a:r>
              <a:t>19 / 19 Lulus (100%)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Alur Autentikasi, Landing Hero, Marketplace, AI Valuation, Trade-In Hub, &amp; Scanner IMEI.</a:t>
            </a:r>
          </a:p>
          <a:p>
            <a:pPr>
              <a:spcBef>
                <a:spcPts val="300"/>
              </a:spcBef>
              <a:defRPr sz="850" i="1">
                <a:solidFill>
                  <a:srgbClr val="475569"/>
                </a:solidFill>
              </a:defRPr>
            </a:pPr>
            <a:r>
              <a:t>Status: Terverifikasi di GitHub main2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94760"/>
            <a:ext cx="329184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1B365D"/>
                </a:solidFill>
              </a:defRPr>
            </a:pPr>
            <a:r>
              <a:t>3. Performance (NFR-012 s/d NFR-015)</a:t>
            </a:r>
          </a:p>
          <a:p>
            <a:pPr>
              <a:spcBef>
                <a:spcPts val="300"/>
              </a:spcBef>
              <a:defRPr b="1" sz="1600">
                <a:solidFill>
                  <a:srgbClr val="D97706"/>
                </a:solidFill>
              </a:defRPr>
            </a:pPr>
            <a:r>
              <a:t>4 / 4 Lulus (100%)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LCP &lt;= 2.5s, CLS &lt;= 0.1, Beranda &lt; 3s, dan Waktu Respon Navigasi &lt; 2s pada k6.</a:t>
            </a:r>
          </a:p>
          <a:p>
            <a:pPr>
              <a:spcBef>
                <a:spcPts val="300"/>
              </a:spcBef>
              <a:defRPr sz="850" i="1">
                <a:solidFill>
                  <a:srgbClr val="475569"/>
                </a:solidFill>
              </a:defRPr>
            </a:pPr>
            <a:r>
              <a:t>Status: Terverifikasi di GitHub main2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794760"/>
            <a:ext cx="329184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1B365D"/>
                </a:solidFill>
              </a:defRPr>
            </a:pPr>
            <a:r>
              <a:t>4. Usability (NFR-016 &amp; NFR-017)</a:t>
            </a:r>
          </a:p>
          <a:p>
            <a:pPr>
              <a:spcBef>
                <a:spcPts val="300"/>
              </a:spcBef>
              <a:defRPr b="1" sz="1600">
                <a:solidFill>
                  <a:srgbClr val="059669"/>
                </a:solidFill>
              </a:defRPr>
            </a:pPr>
            <a:r>
              <a:t>6 / 6 Lulus (100%)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Struktur Navigasi 5 Menu Utama, Mobile Drawer, Real-Time Input Masking, &amp; Disabled Submit.</a:t>
            </a:r>
          </a:p>
          <a:p>
            <a:pPr>
              <a:spcBef>
                <a:spcPts val="300"/>
              </a:spcBef>
              <a:defRPr sz="850" i="1">
                <a:solidFill>
                  <a:srgbClr val="475569"/>
                </a:solidFill>
              </a:defRPr>
            </a:pPr>
            <a:r>
              <a:t>Status: Terverifikasi di GitHub main2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794760"/>
            <a:ext cx="329184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1B365D"/>
                </a:solidFill>
              </a:defRPr>
            </a:pPr>
            <a:r>
              <a:t>5. Reliability (NFR-018 &amp; NFR-019)</a:t>
            </a:r>
          </a:p>
          <a:p>
            <a:pPr>
              <a:spcBef>
                <a:spcPts val="300"/>
              </a:spcBef>
              <a:defRPr b="1" sz="1600">
                <a:solidFill>
                  <a:srgbClr val="7C3AED"/>
                </a:solidFill>
              </a:defRPr>
            </a:pPr>
            <a:r>
              <a:t>2 / 3 Lulus (67%)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10 link internal beranda sehat (&lt; 400), penanganan 404 lulus, temuan hydration mismatch #418.</a:t>
            </a:r>
          </a:p>
          <a:p>
            <a:pPr>
              <a:spcBef>
                <a:spcPts val="300"/>
              </a:spcBef>
              <a:defRPr sz="850" i="1">
                <a:solidFill>
                  <a:srgbClr val="475569"/>
                </a:solidFill>
              </a:defRPr>
            </a:pPr>
            <a:r>
              <a:t>Status: Terverifikasi di GitHub main2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4114800" cy="23774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DAFTAR PUSTAKA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Daftar Pustaka &amp; Referensi Teoretis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SUT: GadgetTrustX (https://gadgetrustx.netlify.app) | PKPL Kelas B - Kelompok 13 | Test Design Specification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10728655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B365D"/>
                </a:solidFill>
              </a:defRPr>
            </a:pPr>
            <a:r>
              <a:t>Referensi Akademik &amp; Standar Industri yang Dirujuk dalam Pengujian 5 Kategori SUT: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[1] OWASP Foundation. (2021). OWASP Top 10:2021 - The Ten Most Critical Web Application Security Risks. (Rujukan Security, Anti-Injection &amp; Credential Protection)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[2] Stuttard, P., &amp; Pinto, M. (2011). The Web Application Hacker's Handbook: Finding and Exploiting Security Flaws (2nd ed.). Wiley. (Rujukan Input Validation &amp; AuthGuard)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[3] Pressman, R. S., &amp; Maxim, B. R. (2020). Software Engineering: A Practitioner's Approach (9th ed.). McGraw-Hill. (Rujukan Kesesuaian Fungsionalitas &amp; Spesifikasi SUT)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[4] Google Chrome Engineering. (2024). Web Vitals: Essential metrics for a healthy site (LCP, CLS, INP). (Rujukan Pengujian Kuantitatif Performance k6)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[5] Nielsen, J. (1994). 10 Usability Heuristics for User Interface Design. Nielsen Norman Group. (Rujukan Usability, Error Prevention &amp; Visibility of System Status)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[6] IEEE Computer Society. (2014). IEEE Std 1028-2008: IEEE Standard for Software Reviews and Audits. IEEE. (Rujukan Standar Pengujian Reliabilitas &amp; Tautan Internal)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[7] Next.js &amp; Vercel Engineering. (2026). Next.js Core Web Vitals, Error Handling, and Static Analysis Best Practices. (Rujukan Serverless &amp; Hydration Handling)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[8] ISO/IEC/IEEE. (2013). ISO/IEC/IEEE 29119: Software and systems engineering - Software testing. IEEE. (Rujukan Metodologi Automated Test Case Execution)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