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59436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TEST DESIGN SPECIFICATION FROM INSPECTION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Software Inspection Checklist &amp;</a:t>
            </a:r>
            <a:br/>
            <a:r>
              <a:t>Automated Testing Specification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Laporan Pengujian 5 Kategori Coverage Items SUT GadgetTrustX Sesuai Form Spesifikasi Tim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03628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 dirty="0"/>
              <a:t>INFORMASI KELOMPOK 13 &amp; SYSTEM UNDER TEST (SUT):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rPr dirty="0"/>
              <a:t>• 1. Leandra Chelsea Geovani (NIM: 202310370331421)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rPr dirty="0"/>
              <a:t>• 2. Muhammad Zaky </a:t>
            </a:r>
            <a:r>
              <a:rPr dirty="0" err="1"/>
              <a:t>Praditama</a:t>
            </a:r>
            <a:r>
              <a:rPr dirty="0"/>
              <a:t> (NIM: 202310370311416)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rPr dirty="0"/>
              <a:t>• 3. </a:t>
            </a:r>
            <a:r>
              <a:rPr dirty="0" err="1"/>
              <a:t>Reyvaldi</a:t>
            </a:r>
            <a:r>
              <a:rPr dirty="0"/>
              <a:t> </a:t>
            </a:r>
            <a:r>
              <a:rPr dirty="0" err="1"/>
              <a:t>Febryan</a:t>
            </a:r>
            <a:r>
              <a:rPr dirty="0"/>
              <a:t> Widya Utomo (NIM: 202310370311409)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rPr dirty="0"/>
              <a:t>• 4. Reno Wahyu </a:t>
            </a:r>
            <a:r>
              <a:rPr dirty="0" err="1"/>
              <a:t>Sanrama</a:t>
            </a:r>
            <a:r>
              <a:rPr dirty="0"/>
              <a:t> (NIM: 202310370311118)</a:t>
            </a:r>
          </a:p>
          <a:p>
            <a:pPr>
              <a:spcBef>
                <a:spcPts val="800"/>
              </a:spcBef>
              <a:defRPr sz="1000" i="1">
                <a:solidFill>
                  <a:srgbClr val="94A3B8"/>
                </a:solidFill>
              </a:defRPr>
            </a:pPr>
            <a:r>
              <a:rPr dirty="0"/>
              <a:t>Mata </a:t>
            </a:r>
            <a:r>
              <a:rPr dirty="0" err="1"/>
              <a:t>Kuliah</a:t>
            </a:r>
            <a:r>
              <a:rPr dirty="0"/>
              <a:t>: </a:t>
            </a:r>
            <a:r>
              <a:rPr dirty="0" err="1"/>
              <a:t>Penjaminan</a:t>
            </a:r>
            <a:r>
              <a:rPr dirty="0"/>
              <a:t> </a:t>
            </a:r>
            <a:r>
              <a:rPr lang="en-US" dirty="0" err="1"/>
              <a:t>Kualitas</a:t>
            </a:r>
            <a:r>
              <a:rPr dirty="0"/>
              <a:t> </a:t>
            </a:r>
            <a:r>
              <a:rPr dirty="0" err="1"/>
              <a:t>Perangkat</a:t>
            </a:r>
            <a:r>
              <a:rPr dirty="0"/>
              <a:t> Lunak (PKPL </a:t>
            </a:r>
            <a:r>
              <a:rPr dirty="0" err="1"/>
              <a:t>Kelas</a:t>
            </a:r>
            <a:r>
              <a:rPr dirty="0"/>
              <a:t> B) | SUT: </a:t>
            </a:r>
            <a:r>
              <a:rPr dirty="0" err="1"/>
              <a:t>GadgetTrustX</a:t>
            </a:r>
            <a:r>
              <a:rPr dirty="0"/>
              <a:t> (https://gadgetrustx.netlify.app)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TUJUAN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Tujuan Pembelajaran &amp; Ruang Lingkup Static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br/>
            <a:br/>
            <a:br/>
            <a:br/>
            <a:r>
              <a:t>1. Software Testing Life Cycle (STLC)</a:t>
            </a:r>
          </a:p>
          <a:p>
            <a:pPr algn="ctr">
              <a:spcBef>
                <a:spcPts val="400"/>
              </a:spcBef>
              <a:defRPr sz="950" b="1">
                <a:solidFill>
                  <a:srgbClr val="E11D48"/>
                </a:solidFill>
              </a:defRPr>
            </a:pPr>
            <a:r>
              <a:t>MAHASISWA MAMPU MENJELASKAN SOFTWARE TESTING LIFECYCLE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Memahami siklus hidup pengujian sistematis dari Requirement Analysis, Test Planning, Test Case Development, Test Execution, hingga Test Closure pada SUT.</a:t>
            </a:r>
          </a:p>
        </p:txBody>
      </p:sp>
      <p:sp>
        <p:nvSpPr>
          <p:cNvPr id="9" name="Oval 8"/>
          <p:cNvSpPr/>
          <p:nvPr/>
        </p:nvSpPr>
        <p:spPr>
          <a:xfrm>
            <a:off x="1920240" y="1737360"/>
            <a:ext cx="1051560" cy="10515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2. Model </a:t>
            </a:r>
            <a:r>
              <a:rPr dirty="0" err="1"/>
              <a:t>dalam</a:t>
            </a:r>
            <a:r>
              <a:rPr dirty="0"/>
              <a:t> Static Testing</a:t>
            </a:r>
          </a:p>
          <a:p>
            <a:pPr algn="ctr">
              <a:spcBef>
                <a:spcPts val="400"/>
              </a:spcBef>
              <a:defRPr sz="950" b="1">
                <a:solidFill>
                  <a:srgbClr val="0284C7"/>
                </a:solidFill>
              </a:defRPr>
            </a:pPr>
            <a:r>
              <a:rPr dirty="0"/>
              <a:t>MAHASISWA MAMPU MENJELASKAN MODEL DALAM STATIC TESTING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rPr dirty="0" err="1"/>
              <a:t>Menguasai</a:t>
            </a:r>
            <a:r>
              <a:rPr dirty="0"/>
              <a:t> </a:t>
            </a:r>
            <a:r>
              <a:rPr dirty="0" err="1"/>
              <a:t>teknik</a:t>
            </a:r>
            <a:r>
              <a:rPr dirty="0"/>
              <a:t> Fagan Inspection, Technical Reviews, Walkthrough, dan Desk Checking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mendeteksi</a:t>
            </a:r>
            <a:r>
              <a:rPr dirty="0"/>
              <a:t> defect </a:t>
            </a:r>
            <a:r>
              <a:rPr dirty="0" err="1"/>
              <a:t>seawal</a:t>
            </a:r>
            <a:r>
              <a:rPr dirty="0"/>
              <a:t> </a:t>
            </a:r>
            <a:r>
              <a:rPr dirty="0" err="1"/>
              <a:t>mungkin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mengeksekusi</a:t>
            </a:r>
            <a:r>
              <a:rPr dirty="0"/>
              <a:t> </a:t>
            </a:r>
            <a:r>
              <a:rPr dirty="0" err="1"/>
              <a:t>kode</a:t>
            </a:r>
            <a:r>
              <a:rPr dirty="0"/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1737360"/>
            <a:ext cx="1051560" cy="10515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3. </a:t>
            </a:r>
            <a:r>
              <a:rPr dirty="0" err="1"/>
              <a:t>Penerapan</a:t>
            </a:r>
            <a:r>
              <a:rPr dirty="0"/>
              <a:t> </a:t>
            </a:r>
            <a:r>
              <a:rPr dirty="0" err="1"/>
              <a:t>Tahap</a:t>
            </a:r>
            <a:r>
              <a:rPr dirty="0"/>
              <a:t> Static Testing</a:t>
            </a:r>
          </a:p>
          <a:p>
            <a:pPr algn="ctr">
              <a:spcBef>
                <a:spcPts val="400"/>
              </a:spcBef>
              <a:defRPr sz="950" b="1">
                <a:solidFill>
                  <a:srgbClr val="D97706"/>
                </a:solidFill>
              </a:defRPr>
            </a:pPr>
            <a:r>
              <a:rPr dirty="0"/>
              <a:t>MAHASISWA MAMPU MENERAPKAN TAHAP STATIC TESTING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Menyusun </a:t>
            </a:r>
            <a:r>
              <a:rPr dirty="0" err="1"/>
              <a:t>instrumen</a:t>
            </a:r>
            <a:r>
              <a:rPr dirty="0"/>
              <a:t> Software Inspection Checklist dan </a:t>
            </a:r>
            <a:r>
              <a:rPr dirty="0" err="1"/>
              <a:t>mengintegrasikan</a:t>
            </a:r>
            <a:r>
              <a:rPr dirty="0"/>
              <a:t> kakas </a:t>
            </a:r>
            <a:r>
              <a:rPr dirty="0" err="1"/>
              <a:t>bantu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(Linter, SAST, E2E Runner) pada </a:t>
            </a:r>
            <a:r>
              <a:rPr dirty="0" err="1"/>
              <a:t>kode</a:t>
            </a:r>
            <a:r>
              <a:rPr dirty="0"/>
              <a:t> </a:t>
            </a:r>
            <a:r>
              <a:rPr dirty="0" err="1"/>
              <a:t>sumber</a:t>
            </a:r>
            <a:r>
              <a:rPr dirty="0"/>
              <a:t> </a:t>
            </a:r>
            <a:r>
              <a:rPr dirty="0" err="1"/>
              <a:t>riil</a:t>
            </a:r>
            <a:r>
              <a:rPr dirty="0"/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1737360"/>
            <a:ext cx="1051560" cy="10515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SPESIFIKASI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Spesifikasi Teknis System Under Test (SUT): GadgetTrustX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Profil Arsitektur &amp; Teknologi SUT GadgetTrustX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Nama Platform: GadgetTrustX (Marketplace Gadget Terverifikasi, AI Trade-In &amp; Escrow)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URL Live Deploy: https://gadgetrustx.netlify.app/ (Production Serverless Environment)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Repositori Git: https://github.com/Andrakkkk/GadgetTrustX (Branch: main &amp; main2)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Framework Utama: Next.js 16.2.4 (React 19.2.4 Compiler, Turbopack, App Router)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Runtime &amp; Bahasa: Node.js v24.19.0, JavaScript (ES2024 Modules / ESM)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Styling Antarmuka: Tailwind CSS v4 Engine, Lucide Icons, GSAP Motion Animations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Backend &amp; Database: Supabase Database (PostgreSQL 15), Supabase SSR Client, Row Level Security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Payment Gateway: Midtrans Client SDK v1.4.3 (Escrow &amp; Virtual Account Integration)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Mesin Kecerdasan: Google Gemini AI Flash 2.5 API (Dynamic Price Valuation &amp; Trade-In)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Testing Harness: Playwright Test Suite v1.63, k6 Load Tester, Node.js Native Test Runner</a:t>
            </a:r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28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4266544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rPr dirty="0"/>
              <a:t>Gambar 1: </a:t>
            </a:r>
            <a:r>
              <a:rPr dirty="0" err="1"/>
              <a:t>Antarmuka</a:t>
            </a:r>
            <a:r>
              <a:rPr dirty="0"/>
              <a:t> Beranda SUT </a:t>
            </a:r>
            <a:r>
              <a:rPr dirty="0" err="1"/>
              <a:t>GadgetTrustX</a:t>
            </a:r>
            <a:r>
              <a:rPr dirty="0"/>
              <a:t> (https://gadgetrustx.netlify.app)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Security (Coverage Items for Security) [1][2]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NFR-001 s/d NFR-005 (12 Test Cases) — Validasi kredensial login, AuthGuard protected route, sanitasi anti-SQLi/XSS, dan pembersihan sesi logout.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NFR-001: Apakah form login memvalidasi email, password kosong, dan menerapkan type=password?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NFR-002: Apakah rute sensitif (/buyer-profile, /seller-profile, /admin) terproteksi oleh AuthGuard?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NFR-003: Apakah input formulir IMEI disanitasi dari muatan SQL Injection (' OR 1=1 --) dan XSS?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NFR-004 &amp; 005: Apakah rahasia API (Turnstile, service role) terisolasi dan sesi dibersihkan saat logout?</a:t>
            </a:r>
          </a:p>
        </p:txBody>
      </p:sp>
      <p:pic>
        <p:nvPicPr>
          <p:cNvPr id="9" name="Picture 8" descr="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4344497"/>
            <a:ext cx="3223997" cy="18364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2: Modul Scanner IMEI dengan Proteksi Anti-Injection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(src/components/AuthGuard.jsx &amp; e2e/security.spec.js)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src/components/AuthGuard.jsx (Route Protection NFR-002)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default function AuthGuard({ children })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{ user, isLoading } = useAuth();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router = useRouter();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useEffect(()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if (!isLoading &amp;&amp; !user) router.push('/login');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}, [user, isLoading, router]);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(isLoading || !user) return &lt;LoadingSpinner /&gt;;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children;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e2e/security.spec.js (Playwright Security Harness NFR-003)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test('TC-SEC-07: Sanitasi SQL Injection',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page.goto('/verification');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imeiInput.fill("' OR 1=1 --");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expect(imeiInput).toHaveValue('11');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Functionality (Coverage Items for Functionality)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234440"/>
            <a:ext cx="5090160" cy="253544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NFR-006 s/d NFR-011 (19 Test Cases) — Memenuhi alur bisnis autentikasi, hero navigasi, marketplace, AI valuation, trade-in, dan validasi IMEI.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NFR-006 &amp; 007: Apakah fungsi autentikasi (role switch, register) dan navigasi beranda beroperasi tepat?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NFR-008: Apakah katalog marketplace dan fitur pencarian perangkat menyajikan data inventaris valid?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NFR-009: Apakah kalkulator Price Checker dan alur wizard 3-step Smart Match bekerja sesuai spesifikasi?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NFR-010 &amp; 011: Apakah alur Trade-In 6 sudut foto dan verifikasi TAC 80+ model IMEI berjalan sempurna?</a:t>
            </a:r>
          </a:p>
        </p:txBody>
      </p:sp>
      <p:pic>
        <p:nvPicPr>
          <p:cNvPr id="9" name="Picture 8" descr="trade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39" y="3995283"/>
            <a:ext cx="3580907" cy="20397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3: Halaman Trade-In Hub dengan Upload 6 Sudut Foto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(e2e/marketplace.spec.js &amp; imei-check/route.js)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e2e/marketplace.spec.js (Playwright Functionality NFR-008)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test('TC-MKT-02: Membuka katalog produk &amp; pencarian',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page.goto('/marketplace');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searchInput = page.getByPlaceholder(/Cari gadget.../i);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searchInput.fill('iPhone');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expect(page.locator('.device-card')).toBeVisible();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src/app/api/imei-check/route.js (TAC Lookup NFR-011)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tac = imei.substring(0, 8);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deviceData = TAC_DATABASE[tac] || guessBrandFromPrefix(tac);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return NextResponse.json({ status: 'VERIFIED', device: deviceData 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Performance (Coverage Items for Performance) [4]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NFR-012 s/d NFR-015 (4 Test Cases k6) — Pengujian kuantitatif Core Web Vitals (LCP, CLS), load time beranda, dan efisiensi waktu respon navigasi.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NFR-012: Apakah Largest Contentful Paint (LCP) pada Beranda, Marketplace, dan AI Valuation &lt;= 2.5 detik?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NFR-013: Apakah skor Cumulative Layout Shift (CLS) stabil dan tidak melebihi ambang batas &lt;= 0.1?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NFR-014: Apakah waktu muat awal halaman beranda (TTFB + Load) tuntas dalam durasi kurang dari 3 detik?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NFR-015: Apakah waktu respon navigasi transisi antar rute beroperasi cepat dengan latensi di bawah 2 detik?</a:t>
            </a:r>
          </a:p>
        </p:txBody>
      </p:sp>
      <p:pic>
        <p:nvPicPr>
          <p:cNvPr id="9" name="Picture 8" descr="smart-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844" y="4343400"/>
            <a:ext cx="2961476" cy="1686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4: Modul Smart Matching AI dengan Evaluasi Kinerja Kuantitatif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(tests/performance/coverage-items-load-test.js)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tests/performance/coverage-items-load-test.js (k6 Load Test)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import http from 'k6/http';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import { check, sleep } from 'k6';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const options =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thresholds: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http_req_duration: ['p(95)&lt;2000'], // NFR-015: respon &lt; 2 detik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'browser_web_vital_lcp': ['p(90)&lt;2500'], // NFR-012: LCP &lt;= 2.5s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'browser_web_vital_cls': ['p(90)&lt;0.1'],  // NFR-013: CLS &lt;= 0.1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default function ()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res = http.get('https://gadgetrustx.netlify.app/');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check(res, { 'status is 200': (r) =&gt; r.status === 200 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Usability (Coverage Items for Usability) [5]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55580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NFR-016 &amp; NFR-017 (6 Test Cases) — Kemudahan navigasi visual, mobile responsiveness, input masking formulir, dan pencegahan galat (Error Prevention Heuristics).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NFR-016: Apakah struktur navigasi 5 menu utama intuitif dan drawer mobile menutup otomatis saat rute berpindah?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NFR-016: Apakah format nilai harga disajikan dalam standar Rupiah (IDR) dan menyematkan badge seller 'Verified'?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NFR-017: Apakah form menerapkan input masking real-time (otomatis menyaring non-angka &amp; membatasi 15 digit)?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NFR-017: Apakah tombol submit berstatus disabled saat data belum lengkap guna mencegah double-submission?</a:t>
            </a:r>
          </a:p>
        </p:txBody>
      </p:sp>
      <p:pic>
        <p:nvPicPr>
          <p:cNvPr id="9" name="Picture 8" descr="TC-US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09705"/>
            <a:ext cx="5120640" cy="206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5: Bukti Pengujian Playwright untuk Usability Navigasi (TC-USB-01)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(e2e/usability-feedback.spec.js &amp; Navbar.jsx)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e2e/usability-feedback.spec.js (Playwright Usability NFR-017)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test('TC-USB-04: Validasi input masking IMEI',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page.goto('/verification');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imeiInput = page.getByPlaceholder(/Masukkan IMEI 15 digit/i);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imeiInput.fill('3546-8515-ABCD-564');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expect(imeiInput).toHaveValue('35468515564');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test('TC-USB-05: Tombol disabled saat data belum lengkap',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verifyBtn = page.getByRole('button', { name: /Verifikasi/i });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expect(verifyBtn).toBeDisabled();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Reliability (Coverage Items for Reliability) [6]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761" y="1234440"/>
            <a:ext cx="5193399" cy="244655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NFR-018 &amp; NFR-019 (3 Test Cases) — Keutuhan link internal bebas broken link, penanganan halaman 404, dan monitoring konsol browser terhadap galat runtime.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NFR-018: Apakah seluruh tautan internal pada halaman utama berstatus sehat dan merespons tanpa error (status &lt; 400)?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NFR-019: Apakah rute yang tidak terdaftar ditangani dengan elegan dengan menyajikan halaman galat 404 informatif?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NFR-019: Apakah konsol browser bebas dari kegagalan eksekusi skrip JavaScript kritis saat halaman dimuat?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Evaluasi: Apakah temuan React hydration mismatch (#418) pada serverless environment telah terisolasi aman?</a:t>
            </a:r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06" y="3836272"/>
            <a:ext cx="4113139" cy="23429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6: Halaman Beranda SUT dengan 10 Link Navigasi Terverifikasi Sehat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(testing/tests/reliability/reliability.spec.ts)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testing/tests/reliability/reliability.spec.ts (NFR-018 &amp; 019)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test('TC-024: Verifikasi semua link internal di beranda',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links = await page.locator('nav a, footer a').all();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for (const link of links)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const href = await link.getAttribute('href');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const res = await page.request.get(href);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  expect(res.status()).toBeLessThan(400);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test('TC-025: Halaman 404 untuk rute tidak ada',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res = await page.goto('/halaman-acak-tidak-ada');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expect(res.status()).toBe(404);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CHECKLIST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Rangkuman Software Inspection Checklist (Sesuai Form Dokumen)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Aspek (Coverage Items)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Kriteria dalam Checklist yang Diinspeksi (Sesuai Form)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 (Ya / Catatan Evaluasi)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Security [1][2]</a:t>
                      </a:r>
                      <a:br/>
                      <a:r>
                        <a:t>(NFR-001 s/d NFR-005)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Validasi kredensial login, type=password, AuthGuard route protection, sanitasi input anti-SQLi/XSS, isolasi rahasia Turnstile, dan pembersihan sesi logout.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12/12 Test Cases Lulus pada Playwright Security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Functionality [3]</a:t>
                      </a:r>
                      <a:br/>
                      <a:r>
                        <a:t>(NFR-006 s/d NFR-011)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Setiap fungsi autentikasi, navigasi beranda, katalog marketplace, valuasi harga AI, Trade-In HP bekas, dan verifikasi TAC IMEI beroperasi sesuai requirement.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19/19 Test Cases Lulus pada Playwright E2E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Performance [4]</a:t>
                      </a:r>
                      <a:br/>
                      <a:r>
                        <a:t>(NFR-012 s/d NFR-015)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LCP &lt;= 2.5s pada 3 halaman utama, CLS &lt;= 0.1 stabil, waktu muat beranda &lt; 3 detik, dan respon navigasi antar halaman &lt; 2 detik pada kondisi pengujian.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4/4 Test Cases Lulus pada Pengujian Beban k6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Usability [5]</a:t>
                      </a:r>
                      <a:br/>
                      <a:r>
                        <a:t>(NFR-016 &amp; NFR-017)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Navigasi intuitif (5 menu), responsive mobile drawer, format harga Rupiah (IDR), input masking real-time form IMEI, dan status tombol disabled saat loading.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6/6 Test Cases Lulus pada Playwright Usability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Reliability [6]</a:t>
                      </a:r>
                      <a:br/>
                      <a:r>
                        <a:t>(NFR-018 &amp; NFR-019)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Semua link internal beranda bebas broken link (status &lt; 400), penanganan rute tidak terdaftar via halaman 404, dan monitoring console JavaScript.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97706"/>
                          </a:solidFill>
                        </a:defRPr>
                      </a:pPr>
                      <a:r>
                        <a:t>[✓] Ya — Terpenuhi Sebagian</a:t>
                      </a:r>
                      <a:br/>
                      <a:r>
                        <a:t>2/3 Lulus (Catatan: Temuan React Hydration Mismatch #418)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AUTOMATED TESTING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Kakas Bantu (Tools) untuk Otomatisasi Static &amp; Dynamic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1. Playwright Test Suite v1.63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PENGUJIAN OTOMATIS END-TO-END (SECURITY, FUNCTIONALITY &amp; USABILITY)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Menjalankan browser automation headless untuk memverifikasi alur otentikasi login, navigasi navbar, input masking IMEI, dan error prevention tanpa intervensi manual.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Trace Viewer, HTML web report interaktif, assertion web-first (toBeVisible, toBeDisabled), dan eksekusi multi-worker paralel.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2. k6 Load Tester (Grafana Labs)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PENGUKURAN KUANTITATIF PERFORMANCE &amp; CORE WEB VITALS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Menguji performa halaman di bawah beban lalu lintas virtual user, mengukur metrik Largest Contentful Paint (LCP), Cumulative Layout Shift (CLS), dan waktu respons navigasi antar rute.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Threshold otomatis batas lulus (p(95)&lt;2000ms untuk navigasi, p(90)&lt;2500ms untuk LCP).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3. ESLint (v9) &amp; Next.js Linter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ANALISIS KUALITAS KODE STATIS &amp; SINTAKS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Mendeteksi syntax error, variabel tidak terpakai (unused vars), potensi memory leak pada useEffect/React Hooks, serta menegakkan konvensi formatting kode secara otomatis saat build.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Perintah `npm run lint` terintegrasi langsung dalam siklus build Next.js dan Turbopack compiler.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rPr lang="en-ID" dirty="0"/>
              <a:t>4. Node.js Native Test Runner (</a:t>
            </a:r>
            <a:r>
              <a:rPr lang="en-ID" dirty="0" err="1"/>
              <a:t>node:test</a:t>
            </a:r>
            <a:r>
              <a:rPr lang="en-ID" dirty="0"/>
              <a:t>)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rPr lang="en-ID" dirty="0"/>
              <a:t>ORKESTRASI SUITE PENGUJIAN OTOMATIS &amp; GENERASI LAPORAN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rPr lang="en-ID" dirty="0" err="1"/>
              <a:t>Mengeksekusi</a:t>
            </a:r>
            <a:r>
              <a:rPr lang="en-ID" dirty="0"/>
              <a:t> automated test script (usability &amp; logic verification) </a:t>
            </a:r>
            <a:r>
              <a:rPr lang="en-ID" dirty="0" err="1"/>
              <a:t>secara</a:t>
            </a:r>
            <a:r>
              <a:rPr lang="en-ID" dirty="0"/>
              <a:t> native dan </a:t>
            </a:r>
            <a:r>
              <a:rPr lang="en-ID" dirty="0" err="1"/>
              <a:t>terisolasi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overhead browser,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mengompilasi</a:t>
            </a:r>
            <a:r>
              <a:rPr lang="en-ID" dirty="0"/>
              <a:t> </a:t>
            </a:r>
            <a:r>
              <a:rPr lang="en-ID" dirty="0" err="1"/>
              <a:t>rekapitulasi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HTML visual </a:t>
            </a:r>
            <a:r>
              <a:rPr lang="en-ID" dirty="0" err="1"/>
              <a:t>mandiri</a:t>
            </a:r>
            <a:r>
              <a:rPr lang="en-ID" dirty="0"/>
              <a:t>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rPr lang="en-ID" dirty="0"/>
              <a:t>• Fitur </a:t>
            </a:r>
            <a:r>
              <a:rPr lang="en-ID" dirty="0" err="1"/>
              <a:t>Otomatis</a:t>
            </a:r>
            <a:r>
              <a:rPr lang="en-ID" dirty="0"/>
              <a:t>: </a:t>
            </a:r>
            <a:r>
              <a:rPr lang="en-ID" dirty="0" err="1"/>
              <a:t>Eksekusi</a:t>
            </a:r>
            <a:r>
              <a:rPr lang="en-ID" dirty="0"/>
              <a:t> batch CLI (node tests/run-</a:t>
            </a:r>
            <a:r>
              <a:rPr lang="en-ID" dirty="0" err="1"/>
              <a:t>usability.mjs</a:t>
            </a:r>
            <a:r>
              <a:rPr lang="en-ID" dirty="0"/>
              <a:t>), assertions </a:t>
            </a:r>
            <a:r>
              <a:rPr lang="en-ID" dirty="0" err="1"/>
              <a:t>ketat</a:t>
            </a:r>
            <a:r>
              <a:rPr lang="en-ID" dirty="0"/>
              <a:t> (</a:t>
            </a:r>
            <a:r>
              <a:rPr lang="en-ID" dirty="0" err="1"/>
              <a:t>node:assert</a:t>
            </a:r>
            <a:r>
              <a:rPr lang="en-ID" dirty="0"/>
              <a:t>/strict), dan generator </a:t>
            </a:r>
            <a:r>
              <a:rPr lang="en-ID" dirty="0" err="1"/>
              <a:t>laporan</a:t>
            </a:r>
            <a:r>
              <a:rPr lang="en-ID" dirty="0"/>
              <a:t> visual HTML </a:t>
            </a:r>
            <a:r>
              <a:rPr lang="en-ID" dirty="0" err="1"/>
              <a:t>interaktif</a:t>
            </a:r>
            <a:r>
              <a:rPr lang="en-ID"/>
              <a:t>.</a:t>
            </a:r>
            <a:endParaRPr lang="en-ID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HASIL PENGUJIAN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Ringkasan Hasil Eksekusi Pengujian Otomatis (Kelompok 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1. Security (NFR-001 s/d NFR-005)</a:t>
            </a:r>
          </a:p>
          <a:p>
            <a:pPr>
              <a:spcBef>
                <a:spcPts val="300"/>
              </a:spcBef>
              <a:defRPr sz="1600" b="1">
                <a:solidFill>
                  <a:srgbClr val="E11D48"/>
                </a:solidFill>
              </a:defRPr>
            </a:pPr>
            <a:r>
              <a:t>12 / 12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Otentikasi Login, Route Protection AuthGuard, Sanitasi SQLi/XSS, Turnstile, &amp; Secure Logout.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2. Functionality (NFR-006 s/d NFR-011)</a:t>
            </a:r>
          </a:p>
          <a:p>
            <a:pPr>
              <a:spcBef>
                <a:spcPts val="300"/>
              </a:spcBef>
              <a:defRPr sz="1600" b="1">
                <a:solidFill>
                  <a:srgbClr val="0284C7"/>
                </a:solidFill>
              </a:defRPr>
            </a:pPr>
            <a:r>
              <a:t>19 / 19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Alur Autentikasi, Landing Hero, Marketplace, AI Valuation, Trade-In Hub, &amp; Scanner IMEI.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3. Performance (NFR-012 s/d NFR-015)</a:t>
            </a:r>
          </a:p>
          <a:p>
            <a:pPr>
              <a:spcBef>
                <a:spcPts val="300"/>
              </a:spcBef>
              <a:defRPr sz="1600" b="1">
                <a:solidFill>
                  <a:srgbClr val="D97706"/>
                </a:solidFill>
              </a:defRPr>
            </a:pPr>
            <a:r>
              <a:t>4 / 4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LCP &lt;= 2.5s, CLS &lt;= 0.1, Beranda &lt; 3s, dan Waktu Respon Navigasi &lt; 2s pada k6.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947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rPr dirty="0"/>
              <a:t>4. Usability (NFR-016 &amp; NFR-017)</a:t>
            </a:r>
          </a:p>
          <a:p>
            <a:pPr>
              <a:spcBef>
                <a:spcPts val="300"/>
              </a:spcBef>
              <a:defRPr sz="1600" b="1">
                <a:solidFill>
                  <a:srgbClr val="059669"/>
                </a:solidFill>
              </a:defRPr>
            </a:pPr>
            <a:r>
              <a:rPr dirty="0"/>
              <a:t>6 / 6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rPr dirty="0" err="1"/>
              <a:t>Struktur</a:t>
            </a:r>
            <a:r>
              <a:rPr dirty="0"/>
              <a:t> </a:t>
            </a:r>
            <a:r>
              <a:rPr dirty="0" err="1"/>
              <a:t>Navigasi</a:t>
            </a:r>
            <a:r>
              <a:rPr dirty="0"/>
              <a:t> 5 Menu Utama, Mobile Drawer, Real-Time Input Masking, &amp; Disabled Submit.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rPr dirty="0"/>
              <a:t>Status: </a:t>
            </a:r>
            <a:r>
              <a:rPr dirty="0" err="1"/>
              <a:t>Terverifikasi</a:t>
            </a:r>
            <a:r>
              <a:rPr dirty="0"/>
              <a:t> di GitHub main2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947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5. Reliability (NFR-018 &amp; NFR-019)</a:t>
            </a:r>
          </a:p>
          <a:p>
            <a:pPr>
              <a:spcBef>
                <a:spcPts val="300"/>
              </a:spcBef>
              <a:defRPr sz="1600" b="1">
                <a:solidFill>
                  <a:srgbClr val="7C3AED"/>
                </a:solidFill>
              </a:defRPr>
            </a:pPr>
            <a:r>
              <a:t>2 / 3 Lulus (67%)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10 link internal beranda sehat (&lt; 400), penanganan 404 lulus, temuan hydration mismatch #418.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DAFTAR PUSTAKA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Daftar Pustaka &amp; Referensi Teoretis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SUT: </a:t>
            </a:r>
            <a:r>
              <a:rPr dirty="0" err="1"/>
              <a:t>GadgetTrustX</a:t>
            </a:r>
            <a:r>
              <a:rPr dirty="0"/>
              <a:t> (https://gadgetrustx.netlify.app) | PKPL </a:t>
            </a:r>
            <a:r>
              <a:rPr dirty="0" err="1"/>
              <a:t>Kelas</a:t>
            </a:r>
            <a:r>
              <a:rPr dirty="0"/>
              <a:t> B - </a:t>
            </a:r>
            <a:r>
              <a:rPr dirty="0" err="1"/>
              <a:t>Kelompok</a:t>
            </a:r>
            <a:r>
              <a:rPr dirty="0"/>
              <a:t>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rPr dirty="0" err="1"/>
              <a:t>Referensi</a:t>
            </a:r>
            <a:r>
              <a:rPr dirty="0"/>
              <a:t> Akademik &amp; </a:t>
            </a:r>
            <a:r>
              <a:rPr dirty="0" err="1"/>
              <a:t>Standar</a:t>
            </a:r>
            <a:r>
              <a:rPr dirty="0"/>
              <a:t> Industri yang </a:t>
            </a:r>
            <a:r>
              <a:rPr dirty="0" err="1"/>
              <a:t>Dirujuk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Pengujian</a:t>
            </a:r>
            <a:r>
              <a:rPr dirty="0"/>
              <a:t> 5 </a:t>
            </a:r>
            <a:r>
              <a:rPr dirty="0" err="1"/>
              <a:t>Kategori</a:t>
            </a:r>
            <a:r>
              <a:rPr dirty="0"/>
              <a:t> SUT: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[1] OWASP Foundation. (2021). OWASP Top 10:2021 - The Ten Most Critical Web Application Security Risks. (</a:t>
            </a:r>
            <a:r>
              <a:rPr dirty="0" err="1"/>
              <a:t>Rujukan</a:t>
            </a:r>
            <a:r>
              <a:rPr dirty="0"/>
              <a:t> Security, Anti-Injection &amp; Credential Protection)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[2] </a:t>
            </a:r>
            <a:r>
              <a:rPr dirty="0" err="1"/>
              <a:t>Stuttard</a:t>
            </a:r>
            <a:r>
              <a:rPr dirty="0"/>
              <a:t>, P., &amp; Pinto, M. (2011). The Web Application Hacker's Handbook: Finding and Exploiting Security Flaws (2nd ed.). Wiley. (</a:t>
            </a:r>
            <a:r>
              <a:rPr dirty="0" err="1"/>
              <a:t>Rujukan</a:t>
            </a:r>
            <a:r>
              <a:rPr dirty="0"/>
              <a:t> Input Validation &amp; </a:t>
            </a:r>
            <a:r>
              <a:rPr dirty="0" err="1"/>
              <a:t>AuthGuard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[3] Pressman, R. S., &amp; Maxim, B. R. (2020). Software Engineering: A Practitioner's Approach (9th ed.). McGraw-Hill. (</a:t>
            </a:r>
            <a:r>
              <a:rPr dirty="0" err="1"/>
              <a:t>Rujukan</a:t>
            </a:r>
            <a:r>
              <a:rPr dirty="0"/>
              <a:t> </a:t>
            </a:r>
            <a:r>
              <a:rPr dirty="0" err="1"/>
              <a:t>Kesesuaian</a:t>
            </a:r>
            <a:r>
              <a:rPr dirty="0"/>
              <a:t> </a:t>
            </a:r>
            <a:r>
              <a:rPr dirty="0" err="1"/>
              <a:t>Fungsionalitas</a:t>
            </a:r>
            <a:r>
              <a:rPr dirty="0"/>
              <a:t> &amp; </a:t>
            </a:r>
            <a:r>
              <a:rPr dirty="0" err="1"/>
              <a:t>Spesifikasi</a:t>
            </a:r>
            <a:r>
              <a:rPr dirty="0"/>
              <a:t> SUT)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[4] Google Chrome Engineering. (2024). Web Vitals: Essential metrics for a healthy site (LCP, CLS, INP). (</a:t>
            </a:r>
            <a:r>
              <a:rPr dirty="0" err="1"/>
              <a:t>Rujukan</a:t>
            </a:r>
            <a:r>
              <a:rPr dirty="0"/>
              <a:t> </a:t>
            </a:r>
            <a:r>
              <a:rPr dirty="0" err="1"/>
              <a:t>Pengujian</a:t>
            </a:r>
            <a:r>
              <a:rPr dirty="0"/>
              <a:t> </a:t>
            </a:r>
            <a:r>
              <a:rPr dirty="0" err="1"/>
              <a:t>Kuantitatif</a:t>
            </a:r>
            <a:r>
              <a:rPr dirty="0"/>
              <a:t> Performance k6)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[5] Nielsen, J. (1994). 10 Usability Heuristics for User Interface Design. Nielsen Norman Group. (</a:t>
            </a:r>
            <a:r>
              <a:rPr dirty="0" err="1"/>
              <a:t>Rujukan</a:t>
            </a:r>
            <a:r>
              <a:rPr dirty="0"/>
              <a:t> Usability, Error Prevention &amp; Visibility of System Status)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[6] IEEE Computer Society. (2014). IEEE Std 1028-2008: IEEE Standard for Software Reviews and Audits. IEEE. (</a:t>
            </a:r>
            <a:r>
              <a:rPr dirty="0" err="1"/>
              <a:t>Rujukan</a:t>
            </a:r>
            <a:r>
              <a:rPr dirty="0"/>
              <a:t> </a:t>
            </a:r>
            <a:r>
              <a:rPr dirty="0" err="1"/>
              <a:t>Standar</a:t>
            </a:r>
            <a:r>
              <a:rPr dirty="0"/>
              <a:t> </a:t>
            </a:r>
            <a:r>
              <a:rPr dirty="0" err="1"/>
              <a:t>Pengujian</a:t>
            </a:r>
            <a:r>
              <a:rPr dirty="0"/>
              <a:t> </a:t>
            </a:r>
            <a:r>
              <a:rPr dirty="0" err="1"/>
              <a:t>Reliabilitas</a:t>
            </a:r>
            <a:r>
              <a:rPr dirty="0"/>
              <a:t> &amp; </a:t>
            </a:r>
            <a:r>
              <a:rPr dirty="0" err="1"/>
              <a:t>Tautan</a:t>
            </a:r>
            <a:r>
              <a:rPr dirty="0"/>
              <a:t> Internal)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[7] Next.js &amp; </a:t>
            </a:r>
            <a:r>
              <a:rPr dirty="0" err="1"/>
              <a:t>Vercel</a:t>
            </a:r>
            <a:r>
              <a:rPr dirty="0"/>
              <a:t> Engineering. (2026). Next.js Core Web Vitals, Error Handling, and Static Analysis Best Practices. (</a:t>
            </a:r>
            <a:r>
              <a:rPr dirty="0" err="1"/>
              <a:t>Rujukan</a:t>
            </a:r>
            <a:r>
              <a:rPr dirty="0"/>
              <a:t> Serverless &amp; Hydration Handling)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[8] ISO/IEC/IEEE. (2013). ISO/IEC/IEEE 29119: Software and systems engineering - Software testing. IEEE. (</a:t>
            </a:r>
            <a:r>
              <a:rPr dirty="0" err="1"/>
              <a:t>Rujukan</a:t>
            </a:r>
            <a:r>
              <a:rPr dirty="0"/>
              <a:t> </a:t>
            </a:r>
            <a:r>
              <a:rPr dirty="0" err="1"/>
              <a:t>Metodologi</a:t>
            </a:r>
            <a:r>
              <a:rPr dirty="0"/>
              <a:t> Automated Test Case Execution)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3365</Words>
  <Application>Microsoft Office PowerPoint</Application>
  <PresentationFormat>Widescreen</PresentationFormat>
  <Paragraphs>247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LEANDRA</dc:creator>
  <cp:keywords/>
  <dc:description>generated using python-pptx</dc:description>
  <cp:lastModifiedBy>Leandra Chelsea</cp:lastModifiedBy>
  <cp:revision>3</cp:revision>
  <dcterms:created xsi:type="dcterms:W3CDTF">2013-01-27T09:14:16Z</dcterms:created>
  <dcterms:modified xsi:type="dcterms:W3CDTF">2026-10-06T15:46:57Z</dcterms:modified>
  <cp:category/>
</cp:coreProperties>
</file>