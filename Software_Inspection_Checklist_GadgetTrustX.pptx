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54864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AKTIVITAS KELAS: STATIC TESTING &amp; SOFTWARE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Software Inspection Checklist &amp;</a:t>
            </a:r>
            <a:br/>
            <a:r>
              <a:t>Automated Testing Specification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Instrumen Pemeriksaan Mutu Kode Sumber &amp; Kakas Bantu Pengujian Otomatis pada SUT GadgetTrustX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036289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INFORMASI KELOMPOK 13 &amp; SYSTEM UNDER TEST (SUT):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1. Leandra Chelsea Geovani (NIM: 202310370331421)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2. Muhammad Zaky Praditama (NIM: 202310370311416)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3. Reyvaldi Febryan Widya Utomo (NIM: 202310370311409)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4. Reno Wahyu Sanrama (NIM: 202310370311118)</a:t>
            </a:r>
          </a:p>
          <a:p>
            <a:pPr>
              <a:spcBef>
                <a:spcPts val="800"/>
              </a:spcBef>
              <a:defRPr sz="1000" i="1">
                <a:solidFill>
                  <a:srgbClr val="94A3B8"/>
                </a:solidFill>
              </a:defRPr>
            </a:pPr>
            <a:r>
              <a:t>Mata Kuliah: Penjaminan Mutu &amp; Pengujian Perangkat Lunak (PKPL Kelas B) | SUT: GadgetTrustX (https://gadgetrustx.netlify.app)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TUJUAN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Tujuan Pembelajaran &amp; Ruang Lingkup Static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br/>
            <a:br/>
            <a:br/>
            <a:br/>
            <a:r>
              <a:t>1. Software Testing Life Cycle (STLC)</a:t>
            </a:r>
          </a:p>
          <a:p>
            <a:pPr algn="ctr">
              <a:spcBef>
                <a:spcPts val="400"/>
              </a:spcBef>
              <a:defRPr b="1" sz="950">
                <a:solidFill>
                  <a:srgbClr val="E11D48"/>
                </a:solidFill>
              </a:defRPr>
            </a:pPr>
            <a:r>
              <a:t>MAHASISWA MAMPU MENJELASKAN SOFTWARE TESTING LIFECYCLE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Memahami siklus hidup pengujian sistematis dari Requirement Analysis, Test Planning, Test Case Development, Test Execution, hingga Test Closure pada SUT.</a:t>
            </a:r>
          </a:p>
        </p:txBody>
      </p:sp>
      <p:sp>
        <p:nvSpPr>
          <p:cNvPr id="9" name="Oval 8"/>
          <p:cNvSpPr/>
          <p:nvPr/>
        </p:nvSpPr>
        <p:spPr>
          <a:xfrm>
            <a:off x="1920240" y="1737360"/>
            <a:ext cx="1051560" cy="10515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br/>
            <a:br/>
            <a:br/>
            <a:br/>
            <a:r>
              <a:t>2. Model dalam Static Testing</a:t>
            </a:r>
          </a:p>
          <a:p>
            <a:pPr algn="ctr">
              <a:spcBef>
                <a:spcPts val="400"/>
              </a:spcBef>
              <a:defRPr b="1" sz="950">
                <a:solidFill>
                  <a:srgbClr val="0284C7"/>
                </a:solidFill>
              </a:defRPr>
            </a:pPr>
            <a:r>
              <a:t>MAHASISWA MAMPU MENJELASKAN MODEL DALAM STATIC TESTING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Menguasai teknik Fagan Inspection, Technical Reviews, Walkthrough, dan Desk Checking untuk mendeteksi defect seawal mungkin tanpa mengeksekusi kode.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1737360"/>
            <a:ext cx="1051560" cy="10515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br/>
            <a:br/>
            <a:br/>
            <a:br/>
            <a:r>
              <a:t>3. Penerapan Tahap Static Testing</a:t>
            </a:r>
          </a:p>
          <a:p>
            <a:pPr algn="ctr">
              <a:spcBef>
                <a:spcPts val="400"/>
              </a:spcBef>
              <a:defRPr b="1" sz="950">
                <a:solidFill>
                  <a:srgbClr val="D97706"/>
                </a:solidFill>
              </a:defRPr>
            </a:pPr>
            <a:r>
              <a:t>MAHASISWA MAMPU MENERAPKAN TAHAP STATIC TESTING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Menyusun instrumen Software Inspection Checklist dan mengintegrasikan kakas bantu otomatis (Linter, SAST, E2E Runner) pada kode sumber riil.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1737360"/>
            <a:ext cx="1051560" cy="10515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SPESIFIKASI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Spesifikasi Teknis System Under Test (SUT): GadgetTrustX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Profil Arsitektur &amp; Teknologi SUT GadgetTrustX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Nama Platform: GadgetTrustX (Marketplace Gadget Terverifikasi, AI Trade-In &amp; Escrow)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URL Live Deploy: https://gadgetrustx.netlify.app/ (Production Serverless Environment)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Repositori Git: https://github.com/Andrakkkk/GadgetTrustX (Branch: main &amp; main2)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Framework Utama: Next.js 16.2.4 (React 19.2.4 Compiler, Turbopack, App Router)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Runtime &amp; Bahasa: Node.js v24.19.0, JavaScript (ES2024 Modules / ESM)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Styling Antarmuka: Tailwind CSS v4 Engine, Lucide Icons, GSAP Motion Animations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Backend &amp; Database: Supabase Database (PostgreSQL 15), Supabase SSR Client, Row Level Security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Payment Gateway: Midtrans Client SDK v1.4.3 (Escrow &amp; Virtual Account Integration)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Mesin Kecerdasan: Google Gemini AI Flash 2.5 API (Dynamic Price Valuation &amp; Trade-In)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Testing Harness: Playwright Test Suite v1.63, k6 Load Tester, Node.js Native Test Runner</a:t>
            </a:r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4937760" cy="28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548640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Gambar 1: Antarmuka Beranda SUT GadgetTrustX (https://gadgetrustx.netlify.app)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Readability (Keterbacaan Kode)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Memeriksa apakah penamaan entitas kode (fungsi, variabel, parameter) jelas, ekspresif, dan tidak ambigu sesuai Clean Code.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nama fungsi dan variabel deskriptif, mudah dipahami, serta mencerminkan tujuannya secara spesifik?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struktur penamaan kode konsisten mengikuti konvensi industri (camelCase untuk fungsi/variabel, PascalCase untuk komponen)?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kode terbebas dari nama variabel berkarakter tunggal misterius, singkatan tidak baku, atau magic numbers?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pemisahan antara blok presentasi antarmuka dan logika pemformatan data terdefinisi jelas?</a:t>
            </a:r>
          </a:p>
        </p:txBody>
      </p:sp>
      <p:pic>
        <p:nvPicPr>
          <p:cNvPr id="9" name="Picture 8" descr="price-che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2: Modul AI Valuation (Price Checker) SUT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(src/utils/formatPrice.js)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src/utils/formatPrice.js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const formatPrice = (price) =&gt;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new Intl.NumberFormat('id-ID',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style: 'currency',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currency: 'IDR',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minimumFractionDigits: 0,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maximumFractionDigits: 0,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}).format(price);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src/lib/gemini-ai.js (Fungsi Deskriptif)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async function estimateDevicePrice({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device, brand, condition, storage, ram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prompt = `Analisis taksiran harga pasar...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await callGemini(prompt);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Maintainability (Kemudahan Pemeliharaan) 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Menguji modularitas kode, pencegahan duplikasi logika (DRY), dan kemudahan ekspansi sistem di masa depan.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kode terorganisir secara modular dengan pemisahan tegas antara UI layer, routing API, dan logika database?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sistem menerapkan prinsip Don't Repeat Yourself (DRY) dengan menyentralisasi pemanggilan data API?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kode memiliki kopling rendah (loose coupling) sehingga penambahan fitur baru tidak merusak modul yang ada?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komponen UI dirancang dapat digunakan kembali (reusable components) di berbagai halaman?</a:t>
            </a:r>
          </a:p>
        </p:txBody>
      </p:sp>
      <p:pic>
        <p:nvPicPr>
          <p:cNvPr id="9" name="Picture 8" descr="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3: Halaman Katalog Marketplace Modular SUT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(src/lib/api-client.js)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src/lib/api-client.js (Sentralisasi HTTP Client)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import { createClient } from '@/lib/supabase/client';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async function apiFetch(path, options = {})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supabase = createClient();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let session = null;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if (supabase) {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  try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  const { data } = await supabase.auth.getSession();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  session = data?.session || null;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  } catch { session = null; 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headers = new Headers(options.headers || {});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if (session?.access_token)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headers.set('Authorization', `Bearer ${session.access_token}`);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await fetch(path, { ...options, headers 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Security &amp; Input Validation [3][4]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Menguji NFR-001 s/d NFR-005: validasi otentikasi login, proteksi rute AuthGuard, anti-injection, dan zero hardcoded secrets.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kode sumber bersih dari rahasia, password, atau API key pihak ketiga yang tertulis langsung (hardcoded)?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seluruh rute profil &amp; admin dilindungi AuthGuard untuk memblokir akses pengguna tak berwenang?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masukan formulir disanitasi dari muatan SQL Injection (' OR 1=1 --) dan XSS (&lt;script&gt;)?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endpoint transaksi dilindungi dari serangan bot replay melalui Cloudflare Turnstile token?</a:t>
            </a:r>
          </a:p>
        </p:txBody>
      </p:sp>
      <p:pic>
        <p:nvPicPr>
          <p:cNvPr id="9" name="Picture 8" descr="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4: Modul Scanner IMEI dengan Sanitasi Masukan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(src/components/AuthGuard.jsx &amp; imei-check/route.js)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src/components/AuthGuard.jsx (Route Protection)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default function AuthGuard({ children })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{ user, isLoading } = useAuth();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router = useRouter();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useEffect(()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if (!isLoading &amp;&amp; !user) router.push('/login');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}, [user, isLoading, router]);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if (isLoading || !user) return &lt;LoadingSpinner /&gt;;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children;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src/app/api/imei-check/route.js (Anti-Injection)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if (!/^\d{15}$/.test(imei))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NextResponse.json({ error: 'Format salah' 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Performance (Kinerja &amp; Efisiensi Resource) [5]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Menguji NFR-012 s/d NFR-015: efisiensi komputasi, caching AI berulang, konsumsi memori, dan pemenuhan Core Web Vitals.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algoritma pemrosesan data efisien tanpa loop bersarang yang tidak perlu (kompleksitas Big-O wajar)?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sistem menerapkan strategi in-memory caching untuk menekan latensi dan kuota pemanggilan AI pihak ketiga?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metrik Core Web Vitals memenuhi target batas (LCP &lt;= 2.5s, CLS &lt;= 0.1, respon navigasi &lt; 2s)?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aset gambar dan berkas statis dioptimalkan secara otomatis untuk menghemat konsumsi bandwidth?</a:t>
            </a:r>
          </a:p>
        </p:txBody>
      </p:sp>
      <p:pic>
        <p:nvPicPr>
          <p:cNvPr id="9" name="Picture 8" descr="smart-m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5: Modul Smart Matching AI dengan Caching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(src/lib/ai-cache.js)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src/lib/ai-cache.js (In-Memory &amp; Disk Caching)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let inMemoryCache = {};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function getAICache(key, maxAgeMs = null)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if (!key) return null;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cleanKey = String(key).toLowerCase().trim();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entry = inMemoryCache[cleanKey];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if (entry &amp;&amp; entry.data) return entry.data;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null;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function setAICache(key, data)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inMemoryCache[cleanKey] =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data, savedAt: new Date().toISOString()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saveDiskCache();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Functionality &amp; Error Handling [6][7]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Menguji NFR-006 s/d NFR-011: kesesuaian fitur bisnis terhadap spesifikasi dan pencegahan kegagalan diam-diam (silent failure).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seluruh alur fungsional bisnis (Escrow, Trade-In 6 sudut foto, Chat Nego) beroperasi sesuai requirement?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seluruh operasi asynchronous (fetch API, query database) dibungkus blok try-catch-finally terstruktur?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penanganan galat mencegah kondisi silent failure (kesalahan ditelan tanpa pencatatan log/pesan)?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sistem menampilkan pesan umpan balik kesalahan yang ramah pengguna tanpa membocorkan raw stack trace?</a:t>
            </a:r>
          </a:p>
        </p:txBody>
      </p:sp>
      <p:pic>
        <p:nvPicPr>
          <p:cNvPr id="9" name="Picture 8" descr="trade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6: Form Trade-In Hub dengan Validasi &amp; Try-Catch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(src/app/verification/page.js)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src/app/verification/page.js (Try-Catch Handling)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handleVerify = async (e)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e.preventDefault();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if (imei.length !== 15) {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  alert('IMEI harus berisi 15 digit angka.');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return;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setVerifying(true);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try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const res = await fetch('/api/imei-check', { ... });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const data = await res.json();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setResult(data);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} catch (err)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console.error('[IMEI Error]:', err);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  alert('Sistem verifikasi sedang sibuk.');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 finally { setVerifying(false); 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Documentation &amp; Coding Standards [1][8]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Memastikan kepatuhan terhadap style guide industri, dokumentasi fungsi JSDoc, dan konsistensi struktur Next.js App Router.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fungsi-fungsi utilitas dan modul krusial dilengkapi komentar dokumentasi JSDoc yang menjelaskan parameter?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penulisan kode mematuhi coding standard dan style guide resmi (ESLint 9, indentasi 2 spasi konsisten)?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struktur direktori dan konvensi penamaan berkas mematuhi standar Next.js App Router resmi?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komentar dalam kode bersifat aktual, relevan, serta terbebas dari sisa kode mati (dead code)?</a:t>
            </a:r>
          </a:p>
        </p:txBody>
      </p:sp>
      <p:pic>
        <p:nvPicPr>
          <p:cNvPr id="9" name="Picture 8" descr="contact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7: Tata Letak Arsitektur SUT GadgetTrustX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(src/lib/verifyTurnstile.js &amp; package.json)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src/lib/verifyTurnstile.js (JSDoc Documentation)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/**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 * Memvalidasi token Cloudflare Turnstile pada sisi server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 * @param {string} token - Token dari widget antarmuka client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 * @param {string} ip - IP address pengirim permintaan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 * @returns {Promise&lt;{success: boolean, error?: string}&gt;}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 */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SITEVERIFY_URL = 'https://challenges.cloudflare.com/turnstile/v0/siteverify';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TOKEN_MAX_LENGTH = 2048;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VERIFY_TIMEOUT_MS = 8000;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package.json (Coding Standard Configuration)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"eslint": "^9",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"eslint-config-next": "16.2.4",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Usability &amp; User Feedback [9]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Menguji NFR-016 &amp; NFR-017: kemudahan navigasi, pencegahan galat (Error Prevention Heuristic), input masking, dan kejelasan feedback.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antarmuka menyediakan struktur navigasi yang intuitif (5 menu utama) dan responsif menutup drawer pada perangkat ponsel?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formulir menerapkan input masking real-time (hanya menerima angka &amp; membatasi 15 digit) guna mencegah galat pengguna?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tombol submit memiliki status visual disabled saat operasi asinkron berlangsung guna mencegah double-submission?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pesan kesalahan disajikan dengan jelas, menggunakan warna semantik (sukses, galat, peringatan) tanpa istilah teknis asing?</a:t>
            </a:r>
          </a:p>
        </p:txBody>
      </p:sp>
      <p:pic>
        <p:nvPicPr>
          <p:cNvPr id="9" name="Picture 8" descr="TC-USB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06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8: Hasil Uji Otomatis Playwright untuk Usability (TC-USB-01)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(e2e/usability-feedback.spec.js &amp; Navbar.jsx)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e2e/usability-feedback.spec.js (Playwright Test)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test('TC-USB-04: Validasi input masking IMEI',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page.goto('/verification');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imeiInput = page.getByPlaceholder(/Masukkan IMEI 15 digit/i);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imeiInput.fill('3546-8515-ABCD-564');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  // Karakter huruf &amp; simbol disaring otomatis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expect(imeiInput).toHaveValue('35468515564');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test('TC-USB-05: Tombol disabled saat belum lengkap',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verifyBtn = page.getByRole('button', { name: /Verifikasi/i });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expect(verifyBtn).toBeDisabled();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SOFTWARE INSPECTION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Testing &amp; Automated Testability [10]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Fokus: Menguji kemudahan pengujian kode (testability), ketersediaan harness pengujian otomatis, dan cakupan skenario uji.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Daftar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Apakah arsitektur kode sumber dirancang mudah diuji (testable) dengan pemisahan logika bisnis dari UI?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Apakah modul penting memiliki automated unit/integration/E2E test suite yang terintegrasi dalam pipeline?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Apakah fungsi utilitas bersifat pure function sehingga mudah diuji tanpa mocking dependensi yang rumit?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Apakah pengujian otomatis dapat dieksekusi secara independen dengan hasil deterministik (100% reproducible)?</a:t>
            </a:r>
          </a:p>
        </p:txBody>
      </p:sp>
      <p:pic>
        <p:nvPicPr>
          <p:cNvPr id="9" name="Picture 8" descr="TC-SEC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14883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9: Hasil Uji Otomatis Playwright untuk Security (TC-SEC-04)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(e2e/security.spec.js &amp; run-usability.mjs)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e2e/security.spec.js (Playwright Security Harness)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test('TC-SEC-04: Proteksi akses tanpa login',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page.context().clearCookies();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page.goto('/buyer-profile');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expect(page).toHaveURL(/.*login.*/);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tests/run-usability.mjs (Automated Test Runner)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child = spawn(process.execPath, ['--test', ...testFiles]);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child.on('close', (code)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console.log('[HASIL]: 12/12 TEST CASES PASS (100%)');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CHECKLIST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Rangkuman Software Inspection Checklist (Lembar Instrumen Uji)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4846320"/>
                <a:gridCol w="3139135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Aspek Pengujian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Kriteria dalam Checklist yang Diinspeksi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 (Ya / Tidak / Catatan Evaluasi)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Readability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Nama fungsi dan variabel deskriptif, penamaan konsisten camelCase, pemisahan format mata uang bersih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pada formatPrice.js &amp; callGemini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Maintainability [2]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Struktur kode modular (SRP), pemanggilan data tersentralisasi (DRY), komponen antarmuka reusable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Sentralisasi API client pada apiFetch &amp; DeviceCard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Security [3]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Tidak ada kunci rahasia/password tersimpan hardcoded, proteksi rute AuthGuard, isolasi token env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Terverifikasi pada NFR-001 s/d NFR-005 (100% 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Input Validation [1][3]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Seluruh masukan pengguna divalidasi ketat, sanitasi anti-SQL injection dan anti-XSS pada form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Input masking IMEI regex ^\d{15}$ menolak payload injeksi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Error Handling 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Operasi async terbungkus blok try-catch, tidak ada silent failure, pesan galat ramah pengguna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Try-catch pada verifikasi IMEI dan custom modal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Performance [5]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Algoritma efisien (Big-O wajar), penerapan in-memory caching untuk AI, pemenuhan Core Web Vitals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ai-cache.js aktif, LCP &lt;= 2.5s &amp; respon &lt; 2s lulus k6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Functionality 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Alur transaksi Escrow, Trade-In 6 sudut foto, dan Scanner IMEI beroperasi sesuai spesifikasi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pada NFR-006 s/d NFR-011 (19/19 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Documentation [8]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Komentar dokumentasi JSDoc tersedia pada fungsi krusial, bebas dari kode mati (dead code)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Terverifikasi pada modul verifyTurnstile.js &amp; schema.sql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Standards [1][8]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Kepatuhan terhadap standar Next.js App Router, style guide ESLint 9, dan penamaan berkas baku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Lulus konfigurasi linting eslint-config-next 16.2.4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B365D"/>
                          </a:solidFill>
                        </a:defRPr>
                      </a:pPr>
                      <a:r>
                        <a:t>Usability &amp; Testing [9][10]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Navigasi intuitif, tombol disabled loading (anti-double submit), harness Playwright E2E otomatis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59669"/>
                          </a:solidFill>
                        </a:defRPr>
                      </a:pPr>
                      <a:r>
                        <a:t>[✓] Ya — 12/12 TC Usability &amp; Security lulus Playwright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AUTOMATED TESTING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Kakas Bantu (Tools) untuk Otomatisasi Static &amp; Dynamic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1. Playwright Test Suite v1.63</a:t>
            </a:r>
          </a:p>
          <a:p>
            <a:pPr>
              <a:defRPr b="1" sz="900">
                <a:solidFill>
                  <a:srgbClr val="0284C7"/>
                </a:solidFill>
              </a:defRPr>
            </a:pPr>
            <a:r>
              <a:t>PENGUJIAN OTOMATIS END-TO-END (E2E) &amp; USABILITY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Menjalankan browser automation headless untuk memverifikasi alur otentikasi login, navigasi navbar, input masking IMEI, dan error prevention tanpa intervensi manual.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Trace Viewer, HTML web report interaktif, assertion web-first (toBeVisible, toBeDisabled), dan eksekusi multi-worker paralel.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2. ESLint (v9) &amp; Next.js Linter</a:t>
            </a:r>
          </a:p>
          <a:p>
            <a:pPr>
              <a:defRPr b="1" sz="900">
                <a:solidFill>
                  <a:srgbClr val="0284C7"/>
                </a:solidFill>
              </a:defRPr>
            </a:pPr>
            <a:r>
              <a:t>ANALISIS KUALITAS KODE STATIS &amp; SINTAKS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Mendeteksi syntax error, variabel tidak terpakai (unused vars), potensi memory leak pada useEffect/React Hooks, serta menegakkan konvensi formatting kode secara otomatis saat build.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Perintah `npm run lint` terintegrasi langsung dalam siklus build Next.js dan Turbopack compiler.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3. SonarCloud / SonarQube</a:t>
            </a:r>
          </a:p>
          <a:p>
            <a:pPr>
              <a:defRPr b="1" sz="900">
                <a:solidFill>
                  <a:srgbClr val="0284C7"/>
                </a:solidFill>
              </a:defRPr>
            </a:pPr>
            <a:r>
              <a:t>PEMERIKSAAN MAINTAINABILITY &amp; SAST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Melakukan Static Application Security Testing (SAST) untuk mendeteksi Code Smells, duplikasi kode (DRY violations), cognitive complexity berlebih, dan kerentanan keamanan sesuai standar OWASP Top 10.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Quality Gate otomatis pada Pull Request GitHub untuk memblokir kode yang melanggar standar.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4. k6 Load Tester &amp; Lighthouse CLI</a:t>
            </a:r>
          </a:p>
          <a:p>
            <a:pPr>
              <a:defRPr b="1" sz="900">
                <a:solidFill>
                  <a:srgbClr val="0284C7"/>
                </a:solidFill>
              </a:defRPr>
            </a:pPr>
            <a:r>
              <a:t>PENGUKURAN CORE WEB VITALS &amp; PERFORMANCE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Menguji performa halaman di bawah beban lalu lintas, mengukur metrik Largest Contentful Paint (LCP), Cumulative Layout Shift (CLS), dan waktu respons navigasi antar rute.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Threshold otomatis gagal build jika LCP &gt; 2.5s atau tingkat galat HTTP &gt; 1%.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HASIL PENGUJIAN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Ringkasan Hasil Eksekusi Pengujian Otomatis (Kelompok 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Security (NFR-001 s/d NFR-005)</a:t>
            </a:r>
          </a:p>
          <a:p>
            <a:pPr>
              <a:spcBef>
                <a:spcPts val="400"/>
              </a:spcBef>
              <a:defRPr b="1" sz="1800">
                <a:solidFill>
                  <a:srgbClr val="E11D48"/>
                </a:solidFill>
              </a:defRPr>
            </a:pPr>
            <a:r>
              <a:t>12 / 12 Lulus (100%)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Otentikasi Login, Route Protection AuthGuard, Sanitasi SQLi/XSS, Turnstile, &amp; Secure Logout.</a:t>
            </a:r>
          </a:p>
          <a:p>
            <a:pPr>
              <a:spcBef>
                <a:spcPts val="400"/>
              </a:spcBef>
              <a:defRPr sz="900" i="1">
                <a:solidFill>
                  <a:srgbClr val="475569"/>
                </a:solidFill>
              </a:defRPr>
            </a:pPr>
            <a:r>
              <a:t>Status: Terverifikasi pada Repositori GitHub &amp; Live Netlify SUT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Functionality (NFR-006 s/d NFR-011)</a:t>
            </a:r>
          </a:p>
          <a:p>
            <a:pPr>
              <a:spcBef>
                <a:spcPts val="400"/>
              </a:spcBef>
              <a:defRPr b="1" sz="1800">
                <a:solidFill>
                  <a:srgbClr val="0284C7"/>
                </a:solidFill>
              </a:defRPr>
            </a:pPr>
            <a:r>
              <a:t>19 / 19 Lulus (100%)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Alur Autentikasi, Landing Hero, Marketplace, AI Valuation, Trade-In Hub, &amp; Scanner IMEI.</a:t>
            </a:r>
          </a:p>
          <a:p>
            <a:pPr>
              <a:spcBef>
                <a:spcPts val="400"/>
              </a:spcBef>
              <a:defRPr sz="900" i="1">
                <a:solidFill>
                  <a:srgbClr val="475569"/>
                </a:solidFill>
              </a:defRPr>
            </a:pPr>
            <a:r>
              <a:t>Status: Terverifikasi pada Repositori GitHub &amp; Live Netlify SUT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Performance (NFR-012 s/d NFR-015)</a:t>
            </a:r>
          </a:p>
          <a:p>
            <a:pPr>
              <a:spcBef>
                <a:spcPts val="400"/>
              </a:spcBef>
              <a:defRPr b="1" sz="1800">
                <a:solidFill>
                  <a:srgbClr val="D97706"/>
                </a:solidFill>
              </a:defRPr>
            </a:pPr>
            <a:r>
              <a:t>4 / 4 Lulus (100%)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LCP &lt;= 2.5s, CLS &lt;= 0.1, Beranda &lt; 3s, dan Waktu Respon Navigasi &lt; 2s pada pengujian k6.</a:t>
            </a:r>
          </a:p>
          <a:p>
            <a:pPr>
              <a:spcBef>
                <a:spcPts val="400"/>
              </a:spcBef>
              <a:defRPr sz="900" i="1">
                <a:solidFill>
                  <a:srgbClr val="475569"/>
                </a:solidFill>
              </a:defRPr>
            </a:pPr>
            <a:r>
              <a:t>Status: Terverifikasi pada Repositori GitHub &amp; Live Netlify SUT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79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Usability (NFR-016 &amp; NFR-017)</a:t>
            </a:r>
          </a:p>
          <a:p>
            <a:pPr>
              <a:spcBef>
                <a:spcPts val="400"/>
              </a:spcBef>
              <a:defRPr b="1" sz="1800">
                <a:solidFill>
                  <a:srgbClr val="059669"/>
                </a:solidFill>
              </a:defRPr>
            </a:pPr>
            <a:r>
              <a:t>6 / 6 Lulus (100%)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Struktur Navigasi 5 Menu Utama, Mobile Drawer, Real-Time Input Masking, &amp; Disabled Submit.</a:t>
            </a:r>
          </a:p>
          <a:p>
            <a:pPr>
              <a:spcBef>
                <a:spcPts val="400"/>
              </a:spcBef>
              <a:defRPr sz="900" i="1">
                <a:solidFill>
                  <a:srgbClr val="475569"/>
                </a:solidFill>
              </a:defRPr>
            </a:pPr>
            <a:r>
              <a:t>Status: Terverifikasi pada Repositori GitHub &amp; Live Netlify SUT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384048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DAFTAR PUSTAKA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Daftar Pustaka &amp; Referensi Teoretis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Software Inspection &amp; Automated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Referensi Akademik &amp; Standar Industri yang Dirujuk dalam Inspeksi &amp; Pengujian: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[1] Martin, R. C. (2008). Clean Code: A Handbook of Agile Software Craftsmanship. Prentice Hall. (Standar Readability, Naming Convention &amp; Function Length)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[2] Fowler, M. (2018). Refactoring: Improving the Design of Existing Code (2nd ed.). Addison-Wesley. (Standar Maintainability, Modularity &amp; DRY Principle)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[3] OWASP Foundation. (2021). OWASP Top 10:2021 - The Ten Most Critical Web Application Security Risks. (Standar Keamanan Anti-Injection, Secret Protection &amp; Rate-Limiting)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[4] Stuttard, P., &amp; Pinto, M. (2011). The Web Application Hacker's Handbook: Finding and Exploiting Security Flaws (2nd ed.). Wiley. (Standar Input Validation &amp; XSS Defense)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[5] Google Chrome Engineering. (2024). Web Vitals: Essential metrics for a healthy site (LCP, CLS, INP). (Standar Performance &amp; Efisiensi Resource)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[6] Pressman, R. S., &amp; Maxim, B. R. (2020). Software Engineering: A Practitioner's Approach (9th ed.). McGraw-Hill. (Kesesuaian Fungsionalitas &amp; Spesifikasi SUT)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[7] Next.js &amp; Vercel Engineering. (2026). Next.js Core Web Vitals, Error Handling, and Static Analysis Best Practices. (Standar Penanganan Galat &amp; Caching Serverless)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[8] IEEE Computer Society. (2014). IEEE Std 1028-2008: IEEE Standard for Software Reviews and Audits. IEEE. (Standar Metode Formal Software Inspection &amp; Walkthrough)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[9] Nielsen, J. (1994). 10 Usability Heuristics for User Interface Design. Nielsen Norman Group. (Standar Usability Heuristics, Error Prevention &amp; Feedback)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[10] ISO/IEC/IEEE. (2013). ISO/IEC/IEEE 29119: Software and systems engineering - Software testing. IEEE. (Standar Metodologi Automated Test Case &amp; Test Execution)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